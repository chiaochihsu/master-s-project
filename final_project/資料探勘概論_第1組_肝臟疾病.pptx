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258" r:id="rId3"/>
    <p:sldId id="259" r:id="rId4"/>
    <p:sldId id="282" r:id="rId5"/>
    <p:sldId id="261" r:id="rId6"/>
    <p:sldId id="263" r:id="rId7"/>
    <p:sldId id="294" r:id="rId8"/>
    <p:sldId id="269" r:id="rId9"/>
    <p:sldId id="288" r:id="rId10"/>
    <p:sldId id="289" r:id="rId11"/>
    <p:sldId id="292" r:id="rId12"/>
    <p:sldId id="293" r:id="rId13"/>
    <p:sldId id="283" r:id="rId14"/>
    <p:sldId id="290" r:id="rId15"/>
    <p:sldId id="284" r:id="rId16"/>
    <p:sldId id="295" r:id="rId17"/>
    <p:sldId id="296" r:id="rId18"/>
    <p:sldId id="298" r:id="rId19"/>
    <p:sldId id="299" r:id="rId20"/>
    <p:sldId id="300" r:id="rId21"/>
    <p:sldId id="301" r:id="rId22"/>
    <p:sldId id="306" r:id="rId23"/>
    <p:sldId id="307" r:id="rId24"/>
    <p:sldId id="308" r:id="rId25"/>
    <p:sldId id="309" r:id="rId26"/>
  </p:sldIdLst>
  <p:sldSz cx="6858000" cy="5143500"/>
  <p:notesSz cx="6858000" cy="9144000"/>
  <p:embeddedFontLst>
    <p:embeddedFont>
      <p:font typeface="DFKai-SB" panose="03000509000000000000" pitchFamily="65" charset="-120"/>
      <p:regular r:id="rId29"/>
    </p:embeddedFont>
    <p:embeddedFont>
      <p:font typeface="DFKai-SB" panose="03000509000000000000" pitchFamily="65" charset="-120"/>
      <p:regular r:id="rId29"/>
    </p:embeddedFont>
    <p:embeddedFont>
      <p:font typeface="Anek Devanagari ExtraBold" panose="02020500000000000000" charset="0"/>
      <p:bold r:id="rId30"/>
    </p:embeddedFont>
    <p:embeddedFont>
      <p:font typeface="Anybody Black" panose="02020500000000000000" charset="0"/>
      <p:bold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8" roundtripDataSignature="AMtx7mj9+AlbCW0cbQGBpPNcDLIg/eVZ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DFFE20-2A3E-43C1-AD87-4D4ADFFD7ED3}">
  <a:tblStyle styleId="{4CDFFE20-2A3E-43C1-AD87-4D4ADFFD7ED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3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128" Type="http://customschemas.google.com/relationships/presentationmetadata" Target="metadata"/><Relationship Id="rId13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13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12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69A785AE-454A-48AC-91B5-6766140C01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EF83F73-2625-4F91-BEDA-8B02F13016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576920-9AFE-45DB-902A-26F9D60E8241}" type="datetimeFigureOut">
              <a:rPr lang="zh-TW" altLang="en-US" smtClean="0"/>
              <a:t>2023/5/28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8B19263-5047-4F26-B763-D2BC71645E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9815A64-F0C8-41A1-9143-0947A985DD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B438C-EE8C-4CD9-8730-F12248BBF05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24325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7" name="Google Shape;2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1359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2658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b62ae4a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b62ae4a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b62ae4a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b62ae4a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2254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b62ae4a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b62ae4a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240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b62ae4a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b62ae4a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3359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b62ae4a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b62ae4a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7071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b62ae4a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b62ae4a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2426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b62ae4a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b62ae4a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847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4b62ae4a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4b62ae4a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935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5"/>
          <p:cNvSpPr/>
          <p:nvPr/>
        </p:nvSpPr>
        <p:spPr>
          <a:xfrm>
            <a:off x="187106" y="246900"/>
            <a:ext cx="6483825" cy="464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i="0" u="none" strike="noStrike" cap="none" dirty="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" name="Google Shape;14;p95"/>
          <p:cNvSpPr txBox="1">
            <a:spLocks noGrp="1"/>
          </p:cNvSpPr>
          <p:nvPr>
            <p:ph type="title"/>
          </p:nvPr>
        </p:nvSpPr>
        <p:spPr>
          <a:xfrm>
            <a:off x="540000" y="246900"/>
            <a:ext cx="5778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DFKai-SB"/>
              <a:buNone/>
              <a:defRPr sz="2800" b="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7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898A052-49BB-4250-AE43-1C697E3D1D0C}"/>
              </a:ext>
            </a:extLst>
          </p:cNvPr>
          <p:cNvSpPr txBox="1"/>
          <p:nvPr userDrawn="1"/>
        </p:nvSpPr>
        <p:spPr>
          <a:xfrm>
            <a:off x="6506239" y="4859647"/>
            <a:ext cx="382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FEDB007-E512-45B5-B9F6-BB1E31CF6763}" type="slidenum">
              <a:rPr lang="zh-TW" altLang="en-US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TW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8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7"/>
          <p:cNvSpPr/>
          <p:nvPr/>
        </p:nvSpPr>
        <p:spPr>
          <a:xfrm>
            <a:off x="187106" y="246900"/>
            <a:ext cx="6483825" cy="464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97"/>
          <p:cNvGrpSpPr/>
          <p:nvPr/>
        </p:nvGrpSpPr>
        <p:grpSpPr>
          <a:xfrm>
            <a:off x="-373972" y="-205421"/>
            <a:ext cx="7605943" cy="5554341"/>
            <a:chOff x="1257111" y="-182190"/>
            <a:chExt cx="10141257" cy="5554341"/>
          </a:xfrm>
        </p:grpSpPr>
        <p:sp>
          <p:nvSpPr>
            <p:cNvPr id="33" name="Google Shape;33;p97"/>
            <p:cNvSpPr/>
            <p:nvPr/>
          </p:nvSpPr>
          <p:spPr>
            <a:xfrm rot="2700000">
              <a:off x="2546380" y="1856982"/>
              <a:ext cx="569362" cy="3882440"/>
            </a:xfrm>
            <a:prstGeom prst="rect">
              <a:avLst/>
            </a:prstGeom>
            <a:gradFill>
              <a:gsLst>
                <a:gs pos="0">
                  <a:srgbClr val="E4EDF1">
                    <a:alpha val="0"/>
                  </a:srgbClr>
                </a:gs>
                <a:gs pos="83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97"/>
            <p:cNvSpPr/>
            <p:nvPr/>
          </p:nvSpPr>
          <p:spPr>
            <a:xfrm rot="-2700000" flipH="1">
              <a:off x="4290986" y="2104565"/>
              <a:ext cx="569362" cy="21917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97"/>
            <p:cNvSpPr/>
            <p:nvPr/>
          </p:nvSpPr>
          <p:spPr>
            <a:xfrm rot="2700000">
              <a:off x="6028340" y="661431"/>
              <a:ext cx="569362" cy="3882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97"/>
            <p:cNvSpPr/>
            <p:nvPr/>
          </p:nvSpPr>
          <p:spPr>
            <a:xfrm rot="-2700000" flipH="1">
              <a:off x="7790586" y="909015"/>
              <a:ext cx="569362" cy="21917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97"/>
            <p:cNvSpPr/>
            <p:nvPr/>
          </p:nvSpPr>
          <p:spPr>
            <a:xfrm rot="-8100000">
              <a:off x="9539738" y="-549460"/>
              <a:ext cx="569362" cy="3882440"/>
            </a:xfrm>
            <a:prstGeom prst="rect">
              <a:avLst/>
            </a:prstGeom>
            <a:gradFill>
              <a:gsLst>
                <a:gs pos="0">
                  <a:srgbClr val="E4EDF1">
                    <a:alpha val="0"/>
                  </a:srgbClr>
                </a:gs>
                <a:gs pos="83000">
                  <a:schemeClr val="lt1"/>
                </a:gs>
                <a:gs pos="100000">
                  <a:schemeClr val="l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97"/>
          <p:cNvSpPr txBox="1">
            <a:spLocks noGrp="1"/>
          </p:cNvSpPr>
          <p:nvPr>
            <p:ph type="title"/>
          </p:nvPr>
        </p:nvSpPr>
        <p:spPr>
          <a:xfrm flipH="1">
            <a:off x="1996875" y="3005400"/>
            <a:ext cx="2864250" cy="52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165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65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65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65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65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65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65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65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6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97"/>
          <p:cNvSpPr txBox="1">
            <a:spLocks noGrp="1"/>
          </p:cNvSpPr>
          <p:nvPr>
            <p:ph type="subTitle" idx="1"/>
          </p:nvPr>
        </p:nvSpPr>
        <p:spPr>
          <a:xfrm flipH="1">
            <a:off x="983813" y="1344675"/>
            <a:ext cx="4890375" cy="14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95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5"/>
          <p:cNvSpPr/>
          <p:nvPr/>
        </p:nvSpPr>
        <p:spPr>
          <a:xfrm>
            <a:off x="187106" y="246900"/>
            <a:ext cx="6483825" cy="464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dk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6"/>
          <p:cNvSpPr/>
          <p:nvPr/>
        </p:nvSpPr>
        <p:spPr>
          <a:xfrm>
            <a:off x="187106" y="246900"/>
            <a:ext cx="6483825" cy="464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3"/>
          <p:cNvSpPr txBox="1">
            <a:spLocks noGrp="1"/>
          </p:cNvSpPr>
          <p:nvPr>
            <p:ph type="title"/>
          </p:nvPr>
        </p:nvSpPr>
        <p:spPr>
          <a:xfrm>
            <a:off x="540000" y="463800"/>
            <a:ext cx="5778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nybody Black"/>
              <a:buNone/>
              <a:defRPr sz="3200" b="0" i="0" u="none" strike="noStrike" cap="none">
                <a:solidFill>
                  <a:schemeClr val="accent3"/>
                </a:solidFill>
                <a:latin typeface="Anybody Black"/>
                <a:ea typeface="Anybody Black"/>
                <a:cs typeface="Anybody Black"/>
                <a:sym typeface="Anybod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nek Devanagari ExtraBold"/>
              <a:buNone/>
              <a:defRPr sz="3600" b="0" i="0" u="none" strike="noStrike" cap="none">
                <a:solidFill>
                  <a:schemeClr val="accent3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nek Devanagari ExtraBold"/>
              <a:buNone/>
              <a:defRPr sz="3600" b="0" i="0" u="none" strike="noStrike" cap="none">
                <a:solidFill>
                  <a:schemeClr val="accent3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nek Devanagari ExtraBold"/>
              <a:buNone/>
              <a:defRPr sz="3600" b="0" i="0" u="none" strike="noStrike" cap="none">
                <a:solidFill>
                  <a:schemeClr val="accent3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nek Devanagari ExtraBold"/>
              <a:buNone/>
              <a:defRPr sz="3600" b="0" i="0" u="none" strike="noStrike" cap="none">
                <a:solidFill>
                  <a:schemeClr val="accent3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nek Devanagari ExtraBold"/>
              <a:buNone/>
              <a:defRPr sz="3600" b="0" i="0" u="none" strike="noStrike" cap="none">
                <a:solidFill>
                  <a:schemeClr val="accent3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nek Devanagari ExtraBold"/>
              <a:buNone/>
              <a:defRPr sz="3600" b="0" i="0" u="none" strike="noStrike" cap="none">
                <a:solidFill>
                  <a:schemeClr val="accent3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nek Devanagari ExtraBold"/>
              <a:buNone/>
              <a:defRPr sz="3600" b="0" i="0" u="none" strike="noStrike" cap="none">
                <a:solidFill>
                  <a:schemeClr val="accent3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nek Devanagari ExtraBold"/>
              <a:buNone/>
              <a:defRPr sz="3600" b="0" i="0" u="none" strike="noStrike" cap="none">
                <a:solidFill>
                  <a:schemeClr val="accent3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9pPr>
          </a:lstStyle>
          <a:p>
            <a:endParaRPr/>
          </a:p>
        </p:txBody>
      </p:sp>
      <p:sp>
        <p:nvSpPr>
          <p:cNvPr id="7" name="Google Shape;7;p93"/>
          <p:cNvSpPr txBox="1">
            <a:spLocks noGrp="1"/>
          </p:cNvSpPr>
          <p:nvPr>
            <p:ph type="body" idx="1"/>
          </p:nvPr>
        </p:nvSpPr>
        <p:spPr>
          <a:xfrm>
            <a:off x="540000" y="1300850"/>
            <a:ext cx="5778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76" r:id="rId3"/>
    <p:sldLayoutId id="2147483677" r:id="rId4"/>
    <p:sldLayoutId id="2147483678" r:id="rId5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anan.com.tw/drliananepaper/Article/410-1" TargetMode="External"/><Relationship Id="rId2" Type="http://schemas.openxmlformats.org/officeDocument/2006/relationships/hyperlink" Target="http://web.csh.org.tw/web/224020/index.php/123-4/7-2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oday.line.me/tw/v2/article/x2XwjNw" TargetMode="External"/><Relationship Id="rId5" Type="http://schemas.openxmlformats.org/officeDocument/2006/relationships/hyperlink" Target="https://globalgoals.tw/3-good-health-and-well-being" TargetMode="External"/><Relationship Id="rId4" Type="http://schemas.openxmlformats.org/officeDocument/2006/relationships/hyperlink" Target="https://www.commonhealth.com.tw/article/85845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"/>
          <p:cNvSpPr txBox="1"/>
          <p:nvPr/>
        </p:nvSpPr>
        <p:spPr>
          <a:xfrm>
            <a:off x="1257300" y="1684458"/>
            <a:ext cx="4458600" cy="454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93989"/>
              </a:lnSpc>
            </a:pPr>
            <a:endParaRPr sz="314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"/>
          <p:cNvSpPr txBox="1"/>
          <p:nvPr/>
        </p:nvSpPr>
        <p:spPr>
          <a:xfrm>
            <a:off x="1416141" y="2774929"/>
            <a:ext cx="40257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第一組期末報告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63" name="Google Shape;263;p2"/>
          <p:cNvSpPr txBox="1"/>
          <p:nvPr/>
        </p:nvSpPr>
        <p:spPr>
          <a:xfrm>
            <a:off x="1416156" y="3310387"/>
            <a:ext cx="40257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4108040027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許喬淇   </a:t>
            </a: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4109012008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 紀懿佳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  <a:p>
            <a:pPr algn="ctr">
              <a:lnSpc>
                <a:spcPct val="150000"/>
              </a:lnSpc>
            </a:pP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指導教授：蔡孟勳 教授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" name="副標題 1">
            <a:extLst>
              <a:ext uri="{FF2B5EF4-FFF2-40B4-BE49-F238E27FC236}">
                <a16:creationId xmlns:a16="http://schemas.microsoft.com/office/drawing/2014/main" id="{711017F5-6FE6-4A95-8A26-3FEBC11D6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844234" y="1356010"/>
            <a:ext cx="5284731" cy="1101150"/>
          </a:xfrm>
        </p:spPr>
        <p:txBody>
          <a:bodyPr/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利用身體指數</a:t>
            </a:r>
          </a:p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預測是否罹患肝病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"/>
          <p:cNvSpPr txBox="1"/>
          <p:nvPr/>
        </p:nvSpPr>
        <p:spPr>
          <a:xfrm>
            <a:off x="1224238" y="1664083"/>
            <a:ext cx="1598288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1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資料集介紹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73" name="Google Shape;273;p3"/>
          <p:cNvSpPr txBox="1"/>
          <p:nvPr/>
        </p:nvSpPr>
        <p:spPr>
          <a:xfrm>
            <a:off x="1224238" y="2226738"/>
            <a:ext cx="2008911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2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研究</a:t>
            </a:r>
            <a:r>
              <a:rPr lang="zh-TW" altLang="en-US" sz="1600" dirty="0">
                <a:latin typeface="DFKai-SB"/>
                <a:ea typeface="DFKai-SB"/>
                <a:cs typeface="DFKai-SB"/>
                <a:sym typeface="DFKai-SB"/>
              </a:rPr>
              <a:t>動機與目的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76" name="Google Shape;276;p3"/>
          <p:cNvSpPr txBox="1"/>
          <p:nvPr/>
        </p:nvSpPr>
        <p:spPr>
          <a:xfrm>
            <a:off x="1224238" y="2789392"/>
            <a:ext cx="2064451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3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lang="zh-TW" altLang="en-US" sz="1600" dirty="0">
                <a:latin typeface="DFKai-SB"/>
                <a:ea typeface="DFKai-SB"/>
                <a:cs typeface="DFKai-SB"/>
                <a:sym typeface="DFKai-SB"/>
              </a:rPr>
              <a:t>使用的</a:t>
            </a: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SDGs</a:t>
            </a:r>
            <a:endParaRPr sz="1600" dirty="0">
              <a:latin typeface="Times New Roman" panose="02020603050405020304" pitchFamily="18" charset="0"/>
              <a:ea typeface="DFKai-SB"/>
              <a:cs typeface="Times New Roman" panose="02020603050405020304" pitchFamily="18" charset="0"/>
              <a:sym typeface="DFKai-SB"/>
            </a:endParaRPr>
          </a:p>
        </p:txBody>
      </p:sp>
      <p:sp>
        <p:nvSpPr>
          <p:cNvPr id="278" name="Google Shape;278;p3"/>
          <p:cNvSpPr txBox="1">
            <a:spLocks noGrp="1"/>
          </p:cNvSpPr>
          <p:nvPr>
            <p:ph type="title"/>
          </p:nvPr>
        </p:nvSpPr>
        <p:spPr>
          <a:xfrm>
            <a:off x="540000" y="259761"/>
            <a:ext cx="5778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>
              <a:lnSpc>
                <a:spcPct val="139991"/>
              </a:lnSpc>
              <a:buClr>
                <a:srgbClr val="000000"/>
              </a:buClr>
            </a:pPr>
            <a:r>
              <a:rPr lang="en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r>
              <a:rPr lang="en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"/>
          <p:cNvSpPr txBox="1"/>
          <p:nvPr/>
        </p:nvSpPr>
        <p:spPr>
          <a:xfrm>
            <a:off x="1224238" y="3358898"/>
            <a:ext cx="1494675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4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魚骨圖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83" name="Google Shape;283;p3"/>
          <p:cNvSpPr txBox="1"/>
          <p:nvPr/>
        </p:nvSpPr>
        <p:spPr>
          <a:xfrm>
            <a:off x="4113914" y="1664083"/>
            <a:ext cx="1928745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5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資料預處理</a:t>
            </a:r>
            <a:r>
              <a:rPr lang="zh-TW" altLang="en-US" sz="1600" dirty="0">
                <a:latin typeface="DFKai-SB"/>
                <a:ea typeface="DFKai-SB"/>
                <a:cs typeface="DFKai-SB"/>
                <a:sym typeface="DFKai-SB"/>
              </a:rPr>
              <a:t>與分析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86" name="Google Shape;286;p3"/>
          <p:cNvSpPr txBox="1"/>
          <p:nvPr/>
        </p:nvSpPr>
        <p:spPr>
          <a:xfrm>
            <a:off x="4113914" y="2226738"/>
            <a:ext cx="1867785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6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lang="zh-TW" altLang="en-US" sz="1600" dirty="0">
                <a:latin typeface="DFKai-SB"/>
                <a:ea typeface="DFKai-SB"/>
                <a:cs typeface="DFKai-SB"/>
                <a:sym typeface="DFKai-SB"/>
              </a:rPr>
              <a:t>模型評估與結果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89" name="Google Shape;289;p3"/>
          <p:cNvSpPr txBox="1"/>
          <p:nvPr/>
        </p:nvSpPr>
        <p:spPr>
          <a:xfrm>
            <a:off x="4113914" y="2789392"/>
            <a:ext cx="1494675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Times New Roman" panose="02020603050405020304" pitchFamily="18" charset="0"/>
                <a:ea typeface="DFKai-SB"/>
                <a:cs typeface="Times New Roman" panose="02020603050405020304" pitchFamily="18" charset="0"/>
                <a:sym typeface="DFKai-SB"/>
              </a:rPr>
              <a:t>7</a:t>
            </a: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lang="zh-TW" altLang="en-US" sz="1600" dirty="0">
                <a:latin typeface="DFKai-SB"/>
                <a:ea typeface="DFKai-SB"/>
                <a:cs typeface="DFKai-SB"/>
                <a:sym typeface="DFKai-SB"/>
              </a:rPr>
              <a:t>知識發現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4" name="Google Shape;280;p3">
            <a:extLst>
              <a:ext uri="{FF2B5EF4-FFF2-40B4-BE49-F238E27FC236}">
                <a16:creationId xmlns:a16="http://schemas.microsoft.com/office/drawing/2014/main" id="{7E28A477-47D8-445F-9E6B-971E83EE8005}"/>
              </a:ext>
            </a:extLst>
          </p:cNvPr>
          <p:cNvSpPr txBox="1"/>
          <p:nvPr/>
        </p:nvSpPr>
        <p:spPr>
          <a:xfrm>
            <a:off x="4113914" y="3358898"/>
            <a:ext cx="1494675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8 </a:t>
            </a:r>
            <a:r>
              <a:rPr lang="zh-TW" altLang="en-US" sz="1600" dirty="0">
                <a:latin typeface="DFKai-SB"/>
                <a:ea typeface="DFKai-SB"/>
                <a:cs typeface="DFKai-SB"/>
                <a:sym typeface="DFKai-SB"/>
              </a:rPr>
              <a:t>文獻參考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1" name="Google Shape;280;p3">
            <a:extLst>
              <a:ext uri="{FF2B5EF4-FFF2-40B4-BE49-F238E27FC236}">
                <a16:creationId xmlns:a16="http://schemas.microsoft.com/office/drawing/2014/main" id="{ADDED4F6-5003-43C9-A7D2-39817E98F83B}"/>
              </a:ext>
            </a:extLst>
          </p:cNvPr>
          <p:cNvSpPr txBox="1"/>
          <p:nvPr/>
        </p:nvSpPr>
        <p:spPr>
          <a:xfrm>
            <a:off x="4113914" y="3928404"/>
            <a:ext cx="1494675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9 </a:t>
            </a:r>
            <a:r>
              <a:rPr lang="zh-TW" altLang="en-US" sz="1600" dirty="0">
                <a:latin typeface="DFKai-SB"/>
                <a:ea typeface="DFKai-SB"/>
                <a:cs typeface="DFKai-SB"/>
                <a:sym typeface="DFKai-SB"/>
              </a:rPr>
              <a:t>結論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 txBox="1"/>
          <p:nvPr/>
        </p:nvSpPr>
        <p:spPr>
          <a:xfrm>
            <a:off x="423195" y="936559"/>
            <a:ext cx="6068289" cy="3768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1642" lvl="1" indent="-135821">
              <a:lnSpc>
                <a:spcPct val="230687"/>
              </a:lnSpc>
              <a:buSzPts val="1600"/>
              <a:buFont typeface="DFKai-SB"/>
              <a:buChar char="•"/>
            </a:pP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資料集：</a:t>
            </a: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Liver Disease Patient Dataset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642" lvl="1" indent="-135821">
              <a:lnSpc>
                <a:spcPct val="230687"/>
              </a:lnSpc>
              <a:buSzPts val="1600"/>
              <a:buFont typeface="DFKai-SB"/>
              <a:buChar char="•"/>
            </a:pP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來源：</a:t>
            </a:r>
            <a:r>
              <a:rPr lang="en" sz="1600" dirty="0">
                <a:latin typeface="Times New Roman"/>
                <a:ea typeface="Times New Roman"/>
                <a:cs typeface="Times New Roman"/>
                <a:sym typeface="Times New Roman"/>
              </a:rPr>
              <a:t>kaggle</a:t>
            </a:r>
            <a:endParaRPr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1642" lvl="1" indent="-135821">
              <a:lnSpc>
                <a:spcPct val="230687"/>
              </a:lnSpc>
              <a:buSzPts val="1600"/>
              <a:buFont typeface="DFKai-SB"/>
              <a:buChar char="•"/>
            </a:pP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資料集說明：</a:t>
            </a:r>
            <a:endParaRPr sz="1600" dirty="0">
              <a:latin typeface="DFKai-SB"/>
              <a:ea typeface="DFKai-SB"/>
              <a:cs typeface="DFKai-SB"/>
              <a:sym typeface="DFKai-SB"/>
            </a:endParaRPr>
          </a:p>
          <a:p>
            <a:pPr>
              <a:lnSpc>
                <a:spcPct val="230687"/>
              </a:lnSpc>
            </a:pPr>
            <a:r>
              <a:rPr lang="en" sz="1600" dirty="0">
                <a:latin typeface="DFKai-SB"/>
                <a:ea typeface="DFKai-SB"/>
                <a:cs typeface="DFKai-SB"/>
                <a:sym typeface="DFKai-SB"/>
              </a:rPr>
              <a:t>       </a:t>
            </a:r>
            <a:r>
              <a:rPr lang="en" dirty="0">
                <a:latin typeface="DFKai-SB"/>
                <a:ea typeface="DFKai-SB"/>
                <a:cs typeface="DFKai-SB"/>
                <a:sym typeface="DFKai-SB"/>
              </a:rPr>
              <a:t>-  具有一個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 training dataset</a:t>
            </a:r>
            <a:r>
              <a:rPr lang="en" dirty="0">
                <a:latin typeface="DFKai-SB"/>
                <a:ea typeface="DFKai-SB"/>
                <a:cs typeface="DFKai-SB"/>
                <a:sym typeface="DFKai-SB"/>
              </a:rPr>
              <a:t> 和 </a:t>
            </a: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testing dataset</a:t>
            </a:r>
          </a:p>
          <a:p>
            <a:pPr>
              <a:lnSpc>
                <a:spcPct val="230687"/>
              </a:lnSpc>
            </a:pPr>
            <a:r>
              <a:rPr lang="zh-TW" altLang="en-US" dirty="0"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lang="en" altLang="zh-TW" dirty="0">
                <a:latin typeface="DFKai-SB"/>
                <a:ea typeface="DFKai-SB"/>
                <a:cs typeface="DFKai-SB"/>
                <a:sym typeface="DFKai-SB"/>
              </a:rPr>
              <a:t>-</a:t>
            </a:r>
            <a:r>
              <a:rPr lang="zh-TW" altLang="en-US" dirty="0">
                <a:latin typeface="DFKai-SB"/>
                <a:ea typeface="DFKai-SB"/>
                <a:cs typeface="DFKai-SB"/>
                <a:sym typeface="DFKai-SB"/>
              </a:rPr>
              <a:t>  </a:t>
            </a:r>
            <a:r>
              <a:rPr lang="en" altLang="zh-TW" dirty="0">
                <a:latin typeface="Times New Roman"/>
                <a:ea typeface="Times New Roman"/>
                <a:cs typeface="Times New Roman"/>
                <a:sym typeface="Times New Roman"/>
              </a:rPr>
              <a:t>training dataset</a:t>
            </a:r>
            <a:r>
              <a:rPr lang="en" altLang="zh-TW" dirty="0"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lang="zh-TW" altLang="en-US" dirty="0">
                <a:latin typeface="DFKai-SB"/>
                <a:ea typeface="DFKai-SB"/>
                <a:cs typeface="DFKai-SB"/>
                <a:sym typeface="DFKai-SB"/>
              </a:rPr>
              <a:t>為已標註資料集</a:t>
            </a:r>
            <a:endParaRPr lang="en-US" altLang="zh-TW" dirty="0">
              <a:latin typeface="DFKai-SB"/>
              <a:ea typeface="DFKai-SB"/>
              <a:cs typeface="DFKai-SB"/>
              <a:sym typeface="DFKai-SB"/>
            </a:endParaRPr>
          </a:p>
          <a:p>
            <a:pPr>
              <a:lnSpc>
                <a:spcPct val="230687"/>
              </a:lnSpc>
            </a:pPr>
            <a:r>
              <a:rPr lang="zh-TW" altLang="en-US" dirty="0">
                <a:latin typeface="DFKai-SB"/>
                <a:ea typeface="DFKai-SB"/>
                <a:cs typeface="Times New Roman"/>
                <a:sym typeface="DFKai-SB"/>
              </a:rPr>
              <a:t>        </a:t>
            </a:r>
            <a:r>
              <a:rPr lang="en-US" altLang="zh-TW" dirty="0">
                <a:latin typeface="DFKai-SB"/>
                <a:ea typeface="DFKai-SB"/>
                <a:cs typeface="Times New Roman"/>
                <a:sym typeface="DFKai-SB"/>
              </a:rPr>
              <a:t>-  </a:t>
            </a:r>
            <a:r>
              <a:rPr lang="zh-TW" altLang="en-US" dirty="0">
                <a:latin typeface="DFKai-SB"/>
                <a:ea typeface="DFKai-SB"/>
                <a:cs typeface="Times New Roman"/>
                <a:sym typeface="DFKai-SB"/>
              </a:rPr>
              <a:t>資料集具有</a:t>
            </a:r>
            <a:r>
              <a:rPr lang="en-US" altLang="zh-TW" dirty="0">
                <a:latin typeface="DFKai-SB"/>
                <a:ea typeface="DFKai-SB"/>
                <a:cs typeface="Times New Roman"/>
                <a:sym typeface="DFKai-SB"/>
              </a:rPr>
              <a:t>21917</a:t>
            </a:r>
            <a:r>
              <a:rPr lang="zh-TW" altLang="en-US" dirty="0">
                <a:latin typeface="DFKai-SB"/>
                <a:ea typeface="DFKai-SB"/>
                <a:cs typeface="Times New Roman"/>
                <a:sym typeface="DFKai-SB"/>
              </a:rPr>
              <a:t>個正樣本</a:t>
            </a:r>
            <a:r>
              <a:rPr lang="en-US" altLang="zh-TW" dirty="0">
                <a:latin typeface="DFKai-SB"/>
                <a:ea typeface="DFKai-SB"/>
                <a:cs typeface="Times New Roman"/>
                <a:sym typeface="DFKai-SB"/>
              </a:rPr>
              <a:t>(</a:t>
            </a:r>
            <a:r>
              <a:rPr lang="zh-TW" altLang="en-US" dirty="0">
                <a:latin typeface="DFKai-SB"/>
                <a:ea typeface="DFKai-SB"/>
                <a:cs typeface="Times New Roman"/>
                <a:sym typeface="DFKai-SB"/>
              </a:rPr>
              <a:t>患病</a:t>
            </a:r>
            <a:r>
              <a:rPr lang="en-US" altLang="zh-TW" dirty="0">
                <a:latin typeface="DFKai-SB"/>
                <a:ea typeface="DFKai-SB"/>
                <a:cs typeface="Times New Roman"/>
                <a:sym typeface="DFKai-SB"/>
              </a:rPr>
              <a:t>)</a:t>
            </a:r>
            <a:r>
              <a:rPr lang="zh-TW" altLang="en-US" dirty="0">
                <a:latin typeface="DFKai-SB"/>
                <a:ea typeface="DFKai-SB"/>
                <a:cs typeface="Times New Roman"/>
                <a:sym typeface="DFKai-SB"/>
              </a:rPr>
              <a:t>、</a:t>
            </a:r>
            <a:r>
              <a:rPr lang="en-US" altLang="zh-TW" dirty="0">
                <a:latin typeface="DFKai-SB"/>
                <a:ea typeface="DFKai-SB"/>
                <a:cs typeface="Times New Roman"/>
                <a:sym typeface="DFKai-SB"/>
              </a:rPr>
              <a:t>8774</a:t>
            </a:r>
            <a:r>
              <a:rPr lang="zh-TW" altLang="en-US" dirty="0">
                <a:latin typeface="DFKai-SB"/>
                <a:ea typeface="DFKai-SB"/>
                <a:cs typeface="Times New Roman"/>
                <a:sym typeface="DFKai-SB"/>
              </a:rPr>
              <a:t>個負樣本</a:t>
            </a:r>
            <a:r>
              <a:rPr lang="en-US" altLang="zh-TW" dirty="0">
                <a:latin typeface="DFKai-SB"/>
                <a:ea typeface="DFKai-SB"/>
                <a:cs typeface="Times New Roman"/>
                <a:sym typeface="DFKai-SB"/>
              </a:rPr>
              <a:t>(</a:t>
            </a:r>
            <a:r>
              <a:rPr lang="zh-TW" altLang="en-US" dirty="0">
                <a:latin typeface="DFKai-SB"/>
                <a:ea typeface="DFKai-SB"/>
                <a:cs typeface="Times New Roman"/>
                <a:sym typeface="DFKai-SB"/>
              </a:rPr>
              <a:t>無患病</a:t>
            </a:r>
            <a:r>
              <a:rPr lang="en-US" altLang="zh-TW" dirty="0">
                <a:latin typeface="DFKai-SB"/>
                <a:ea typeface="DFKai-SB"/>
                <a:cs typeface="Times New Roman"/>
                <a:sym typeface="DFKai-SB"/>
              </a:rPr>
              <a:t>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230687"/>
              </a:lnSpc>
            </a:pPr>
            <a:r>
              <a:rPr lang="en" dirty="0">
                <a:latin typeface="DFKai-SB"/>
                <a:ea typeface="DFKai-SB"/>
                <a:cs typeface="DFKai-SB"/>
                <a:sym typeface="DFKai-SB"/>
              </a:rPr>
              <a:t>        -  身體紀錄包含年齡、性別、膽紅素、鹼性磷酸酶、轉</a:t>
            </a:r>
            <a:r>
              <a:rPr lang="zh-TW" altLang="en-US" dirty="0">
                <a:latin typeface="DFKai-SB"/>
                <a:ea typeface="DFKai-SB"/>
                <a:cs typeface="DFKai-SB"/>
                <a:sym typeface="DFKai-SB"/>
              </a:rPr>
              <a:t>氨</a:t>
            </a:r>
            <a:r>
              <a:rPr lang="en" dirty="0">
                <a:latin typeface="DFKai-SB"/>
                <a:ea typeface="DFKai-SB"/>
                <a:cs typeface="DFKai-SB"/>
                <a:sym typeface="DFKai-SB"/>
              </a:rPr>
              <a:t>酶等</a:t>
            </a:r>
            <a:endParaRPr sz="1100" dirty="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296" name="Google Shape;296;p5"/>
          <p:cNvSpPr txBox="1">
            <a:spLocks noGrp="1"/>
          </p:cNvSpPr>
          <p:nvPr>
            <p:ph type="title"/>
          </p:nvPr>
        </p:nvSpPr>
        <p:spPr>
          <a:xfrm>
            <a:off x="540000" y="234268"/>
            <a:ext cx="5778000" cy="60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>
              <a:lnSpc>
                <a:spcPct val="140004"/>
              </a:lnSpc>
              <a:buClr>
                <a:srgbClr val="000000"/>
              </a:buClr>
            </a:pPr>
            <a:r>
              <a:rPr lang="en" sz="2800" dirty="0">
                <a:solidFill>
                  <a:srgbClr val="000000"/>
                </a:solidFill>
              </a:rPr>
              <a:t>資料集介紹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"/>
          <p:cNvSpPr txBox="1"/>
          <p:nvPr/>
        </p:nvSpPr>
        <p:spPr>
          <a:xfrm>
            <a:off x="394852" y="941198"/>
            <a:ext cx="606828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1642" lvl="1" indent="-135821">
              <a:lnSpc>
                <a:spcPct val="150000"/>
              </a:lnSpc>
              <a:buSzPts val="1600"/>
              <a:buFont typeface="DFKai-SB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共有十項身體檢查紀錄和是否患病的欄位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(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Times New Roman"/>
              </a:rPr>
              <a:t>Result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)</a:t>
            </a:r>
          </a:p>
          <a:p>
            <a:pPr marL="271642" lvl="1" indent="-135821">
              <a:lnSpc>
                <a:spcPct val="150000"/>
              </a:lnSpc>
              <a:buSzPts val="1600"/>
              <a:buFont typeface="DFKai-SB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是否患病是由專家標註，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1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為患病、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2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  <a:sym typeface="Times New Roman"/>
              </a:rPr>
              <a:t>為沒有患病</a:t>
            </a:r>
            <a:endParaRPr lang="en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/>
              <a:sym typeface="Times New Roman"/>
            </a:endParaRPr>
          </a:p>
        </p:txBody>
      </p:sp>
      <p:sp>
        <p:nvSpPr>
          <p:cNvPr id="296" name="Google Shape;296;p5"/>
          <p:cNvSpPr txBox="1">
            <a:spLocks noGrp="1"/>
          </p:cNvSpPr>
          <p:nvPr>
            <p:ph type="title"/>
          </p:nvPr>
        </p:nvSpPr>
        <p:spPr>
          <a:xfrm>
            <a:off x="540000" y="234268"/>
            <a:ext cx="5778000" cy="60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>
              <a:lnSpc>
                <a:spcPct val="140004"/>
              </a:lnSpc>
              <a:buClr>
                <a:srgbClr val="000000"/>
              </a:buClr>
            </a:pPr>
            <a:r>
              <a:rPr lang="en" sz="2800" dirty="0">
                <a:solidFill>
                  <a:srgbClr val="000000"/>
                </a:solidFill>
              </a:rPr>
              <a:t>資料集介紹</a:t>
            </a:r>
            <a:endParaRPr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9C2859B-3158-4D2F-993F-8487B4CB11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7"/>
          <a:stretch/>
        </p:blipFill>
        <p:spPr>
          <a:xfrm>
            <a:off x="289066" y="1894061"/>
            <a:ext cx="6279867" cy="2765604"/>
          </a:xfrm>
          <a:prstGeom prst="rect">
            <a:avLst/>
          </a:prstGeom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B657633-A118-454C-8126-ADBD68243D77}"/>
              </a:ext>
            </a:extLst>
          </p:cNvPr>
          <p:cNvSpPr/>
          <p:nvPr/>
        </p:nvSpPr>
        <p:spPr>
          <a:xfrm>
            <a:off x="913130" y="2626359"/>
            <a:ext cx="400050" cy="20333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489954-6E60-4B3C-9F05-930A7EA67D79}"/>
              </a:ext>
            </a:extLst>
          </p:cNvPr>
          <p:cNvSpPr/>
          <p:nvPr/>
        </p:nvSpPr>
        <p:spPr>
          <a:xfrm>
            <a:off x="3601720" y="3835400"/>
            <a:ext cx="339336" cy="2197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D5F382B-E161-46DB-A146-1DB2BC9CA065}"/>
              </a:ext>
            </a:extLst>
          </p:cNvPr>
          <p:cNvSpPr txBox="1"/>
          <p:nvPr/>
        </p:nvSpPr>
        <p:spPr>
          <a:xfrm>
            <a:off x="2778004" y="4631477"/>
            <a:ext cx="1647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資料集的前十列</a:t>
            </a:r>
          </a:p>
        </p:txBody>
      </p:sp>
    </p:spTree>
    <p:extLst>
      <p:ext uri="{BB962C8B-B14F-4D97-AF65-F5344CB8AC3E}">
        <p14:creationId xmlns:p14="http://schemas.microsoft.com/office/powerpoint/2010/main" val="189916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"/>
          <p:cNvSpPr txBox="1"/>
          <p:nvPr/>
        </p:nvSpPr>
        <p:spPr>
          <a:xfrm>
            <a:off x="335713" y="745099"/>
            <a:ext cx="6193556" cy="192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6886" lvl="1">
              <a:lnSpc>
                <a:spcPct val="215562"/>
              </a:lnSpc>
              <a:buSzPts val="1600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背景</a:t>
            </a:r>
            <a:endParaRPr lang="en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15562"/>
              </a:lnSpc>
              <a:buSzPts val="1600"/>
              <a:buFont typeface="Arial"/>
              <a:buChar char="•"/>
            </a:pPr>
            <a:r>
              <a:rPr lang="en" dirty="0">
                <a:latin typeface="Times New Roman" panose="02020603050405020304" pitchFamily="18" charset="0"/>
                <a:ea typeface="標楷體" panose="03000509000000000000" pitchFamily="65" charset="-120"/>
              </a:rPr>
              <a:t>在台灣，肝病有國病之稱。衛福部死因統計，每年約13,000人死於慢性肝病、肝硬化及肝癌。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15562"/>
              </a:lnSpc>
              <a:buSzPts val="1600"/>
              <a:buFont typeface="Arial"/>
              <a:buChar char="•"/>
            </a:pPr>
            <a:r>
              <a:rPr lang="en" dirty="0">
                <a:latin typeface="Times New Roman" panose="02020603050405020304" pitchFamily="18" charset="0"/>
                <a:ea typeface="標楷體" panose="03000509000000000000" pitchFamily="65" charset="-120"/>
              </a:rPr>
              <a:t>肝臟是個沉默的器官，沒有明顯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患病</a:t>
            </a:r>
            <a:r>
              <a:rPr lang="en" dirty="0">
                <a:latin typeface="Times New Roman" panose="02020603050405020304" pitchFamily="18" charset="0"/>
                <a:ea typeface="標楷體" panose="03000509000000000000" pitchFamily="65" charset="-120"/>
              </a:rPr>
              <a:t>初期症狀。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335713" y="3456605"/>
            <a:ext cx="6670221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6886" lvl="1">
              <a:lnSpc>
                <a:spcPct val="203962"/>
              </a:lnSpc>
              <a:buSzPts val="1600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目的</a:t>
            </a:r>
            <a:endParaRPr lang="en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3962"/>
              </a:lnSpc>
              <a:buSzPts val="1600"/>
              <a:buFont typeface="Arial"/>
              <a:buChar char="•"/>
            </a:pPr>
            <a:r>
              <a:rPr lang="en" dirty="0">
                <a:latin typeface="標楷體" panose="03000509000000000000" pitchFamily="65" charset="-120"/>
                <a:ea typeface="標楷體" panose="03000509000000000000" pitchFamily="65" charset="-120"/>
              </a:rPr>
              <a:t>利用機器學習分析身體各項指數，預測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罹患</a:t>
            </a:r>
            <a:r>
              <a:rPr lang="en" dirty="0">
                <a:latin typeface="標楷體" panose="03000509000000000000" pitchFamily="65" charset="-120"/>
                <a:ea typeface="標楷體" panose="03000509000000000000" pitchFamily="65" charset="-120"/>
              </a:rPr>
              <a:t>肝病的可能性。</a:t>
            </a:r>
            <a:endParaRPr sz="11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1" name="Google Shape;311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sz="2800" dirty="0"/>
              <a:t>研究動機與目的</a:t>
            </a:r>
            <a:endParaRPr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5342D8-D4BD-4E4C-B599-95F787AA0C6E}"/>
              </a:ext>
            </a:extLst>
          </p:cNvPr>
          <p:cNvSpPr/>
          <p:nvPr/>
        </p:nvSpPr>
        <p:spPr>
          <a:xfrm>
            <a:off x="335714" y="839099"/>
            <a:ext cx="722270" cy="41536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188EE9-C12E-4D4C-A9B2-39A1C7243994}"/>
              </a:ext>
            </a:extLst>
          </p:cNvPr>
          <p:cNvSpPr/>
          <p:nvPr/>
        </p:nvSpPr>
        <p:spPr>
          <a:xfrm>
            <a:off x="343270" y="3525594"/>
            <a:ext cx="714713" cy="415367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FD6266-5CA8-4090-965F-520D0A0C21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3385" b="52174" l="14752" r="83696">
                        <a14:foregroundMark x1="21894" y1="39907" x2="21894" y2="39907"/>
                        <a14:foregroundMark x1="26242" y1="38043" x2="26087" y2="38665"/>
                        <a14:foregroundMark x1="24379" y1="37733" x2="22205" y2="37733"/>
                        <a14:foregroundMark x1="27640" y1="38975" x2="23913" y2="38665"/>
                        <a14:foregroundMark x1="29503" y1="50000" x2="30280" y2="51398"/>
                        <a14:foregroundMark x1="45031" y1="51553" x2="57298" y2="50000"/>
                        <a14:foregroundMark x1="57298" y1="50000" x2="58230" y2="50000"/>
                        <a14:foregroundMark x1="72826" y1="49845" x2="83696" y2="51242"/>
                        <a14:foregroundMark x1="81677" y1="39441" x2="72205" y2="40839"/>
                        <a14:foregroundMark x1="65683" y1="39596" x2="62267" y2="39596"/>
                        <a14:foregroundMark x1="37578" y1="39286" x2="33075" y2="40062"/>
                        <a14:foregroundMark x1="22360" y1="50311" x2="29658" y2="51398"/>
                        <a14:foregroundMark x1="19099" y1="50466" x2="14752" y2="50932"/>
                        <a14:foregroundMark x1="53106" y1="40217" x2="52329" y2="394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629" t="31270" r="12962" b="45334"/>
          <a:stretch/>
        </p:blipFill>
        <p:spPr bwMode="auto">
          <a:xfrm>
            <a:off x="3741050" y="2740968"/>
            <a:ext cx="2773680" cy="860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 txBox="1"/>
          <p:nvPr/>
        </p:nvSpPr>
        <p:spPr>
          <a:xfrm>
            <a:off x="-725041" y="1285470"/>
            <a:ext cx="4462979" cy="40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76"/>
              </a:lnSpc>
            </a:pPr>
            <a:r>
              <a:rPr lang="en" sz="190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" sz="190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1901" dirty="0">
                <a:latin typeface="標楷體" panose="03000509000000000000" pitchFamily="65" charset="-120"/>
                <a:ea typeface="標楷體" panose="03000509000000000000" pitchFamily="65" charset="-120"/>
              </a:rPr>
              <a:t>健康與福祉</a:t>
            </a:r>
            <a:endParaRPr sz="105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2773539" y="2065020"/>
            <a:ext cx="354446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zh-TW" altLang="en-US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減少非傳染性疾病造成的死亡率並促進心理健康</a:t>
            </a:r>
            <a:endParaRPr sz="1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6" name="Google Shape;326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sz="2800" dirty="0"/>
              <a:t>使用的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SDGs</a:t>
            </a:r>
            <a:br>
              <a:rPr lang="en-US" altLang="zh-TW" sz="900" dirty="0"/>
            </a:br>
            <a:endParaRPr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1F4217B5-9214-4DE9-BA29-601D3AAA570F}"/>
              </a:ext>
            </a:extLst>
          </p:cNvPr>
          <p:cNvGrpSpPr/>
          <p:nvPr/>
        </p:nvGrpSpPr>
        <p:grpSpPr>
          <a:xfrm>
            <a:off x="1051561" y="2141376"/>
            <a:ext cx="1089660" cy="1370428"/>
            <a:chOff x="640080" y="1752722"/>
            <a:chExt cx="1847850" cy="232397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DE36E20-C406-4B50-B0EF-80D9227151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080" y="2228850"/>
              <a:ext cx="1847850" cy="1847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7F63B0A-053D-4A2D-8663-14F09FD67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351" y="1752722"/>
              <a:ext cx="1836579" cy="388654"/>
            </a:xfrm>
            <a:prstGeom prst="rect">
              <a:avLst/>
            </a:prstGeom>
          </p:spPr>
        </p:pic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02291D82-4645-4D40-9E57-D7E5317946E5}"/>
              </a:ext>
            </a:extLst>
          </p:cNvPr>
          <p:cNvSpPr txBox="1"/>
          <p:nvPr/>
        </p:nvSpPr>
        <p:spPr>
          <a:xfrm>
            <a:off x="2697544" y="2709831"/>
            <a:ext cx="35444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在西元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2030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年前，透過預防與治療，將非傳染性疾病的未成年死亡數減少三分之一，並促進心理健康。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8A5E015-91B1-4AB7-998A-5845965E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魚骨圖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15C92E-E65C-4C48-A403-DA9975365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70" y="1010100"/>
            <a:ext cx="5668260" cy="349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42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b62ae4a0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dirty="0"/>
              <a:t>資料預處理與分析</a:t>
            </a:r>
            <a:r>
              <a:rPr lang="zh-TW" altLang="en-US" sz="1800" dirty="0"/>
              <a:t> </a:t>
            </a:r>
            <a:endParaRPr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0B931E-E870-46A9-B014-B0647F356F86}"/>
              </a:ext>
            </a:extLst>
          </p:cNvPr>
          <p:cNvSpPr txBox="1"/>
          <p:nvPr/>
        </p:nvSpPr>
        <p:spPr>
          <a:xfrm>
            <a:off x="602672" y="1027262"/>
            <a:ext cx="5410829" cy="45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數據化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Gender of the patient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0 (female)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1 (male)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AF980A74-58EA-4075-BA4D-84909ABA43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7"/>
          <a:stretch/>
        </p:blipFill>
        <p:spPr>
          <a:xfrm>
            <a:off x="289066" y="1791863"/>
            <a:ext cx="6279867" cy="2765604"/>
          </a:xfrm>
          <a:prstGeom prst="rect">
            <a:avLst/>
          </a:prstGeom>
          <a:ln>
            <a:noFill/>
          </a:ln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C6F51D26-F41D-494F-9801-11021556434E}"/>
              </a:ext>
            </a:extLst>
          </p:cNvPr>
          <p:cNvSpPr/>
          <p:nvPr/>
        </p:nvSpPr>
        <p:spPr>
          <a:xfrm>
            <a:off x="913130" y="2524161"/>
            <a:ext cx="400050" cy="203330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4B1F6E0-099A-4B4F-A6D1-D7A3FBAC0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671" y="2721760"/>
            <a:ext cx="545146" cy="2142041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sp>
        <p:nvSpPr>
          <p:cNvPr id="17" name="箭號: 弧形上彎 16">
            <a:extLst>
              <a:ext uri="{FF2B5EF4-FFF2-40B4-BE49-F238E27FC236}">
                <a16:creationId xmlns:a16="http://schemas.microsoft.com/office/drawing/2014/main" id="{13A78F3A-E924-4FAB-B78B-9AED45EDF85F}"/>
              </a:ext>
            </a:extLst>
          </p:cNvPr>
          <p:cNvSpPr/>
          <p:nvPr/>
        </p:nvSpPr>
        <p:spPr>
          <a:xfrm rot="11495614" flipH="1">
            <a:off x="1149507" y="2289887"/>
            <a:ext cx="877958" cy="321291"/>
          </a:xfrm>
          <a:prstGeom prst="curvedUpArrow">
            <a:avLst>
              <a:gd name="adj1" fmla="val 14188"/>
              <a:gd name="adj2" fmla="val 44464"/>
              <a:gd name="adj3" fmla="val 25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DBA90FC-E953-4121-B8C4-854BB8B69633}"/>
              </a:ext>
            </a:extLst>
          </p:cNvPr>
          <p:cNvSpPr txBox="1"/>
          <p:nvPr/>
        </p:nvSpPr>
        <p:spPr>
          <a:xfrm>
            <a:off x="259019" y="651445"/>
            <a:ext cx="1275057" cy="3385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資料預處理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b62ae4a0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dirty="0"/>
              <a:t>資料預處理與分析</a:t>
            </a:r>
            <a:endParaRPr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0B931E-E870-46A9-B014-B0647F356F86}"/>
              </a:ext>
            </a:extLst>
          </p:cNvPr>
          <p:cNvSpPr txBox="1"/>
          <p:nvPr/>
        </p:nvSpPr>
        <p:spPr>
          <a:xfrm>
            <a:off x="1388602" y="834469"/>
            <a:ext cx="5410829" cy="2612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檢視具有缺失值之列的數量，並刪除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31BB114D-A351-435F-9733-3FE690145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617" y="1274237"/>
            <a:ext cx="4312766" cy="3561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2D2268D9-1082-41B7-8763-D066E411BF08}"/>
              </a:ext>
            </a:extLst>
          </p:cNvPr>
          <p:cNvSpPr txBox="1"/>
          <p:nvPr/>
        </p:nvSpPr>
        <p:spPr>
          <a:xfrm>
            <a:off x="259019" y="651445"/>
            <a:ext cx="1275057" cy="3385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資料預處理</a:t>
            </a:r>
          </a:p>
        </p:txBody>
      </p:sp>
    </p:spTree>
    <p:extLst>
      <p:ext uri="{BB962C8B-B14F-4D97-AF65-F5344CB8AC3E}">
        <p14:creationId xmlns:p14="http://schemas.microsoft.com/office/powerpoint/2010/main" val="2822188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b62ae4a0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dirty="0"/>
              <a:t>資料預處理與分析</a:t>
            </a:r>
            <a:endParaRPr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0B931E-E870-46A9-B014-B0647F356F86}"/>
              </a:ext>
            </a:extLst>
          </p:cNvPr>
          <p:cNvSpPr txBox="1"/>
          <p:nvPr/>
        </p:nvSpPr>
        <p:spPr>
          <a:xfrm>
            <a:off x="324953" y="839100"/>
            <a:ext cx="5410829" cy="218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刪除缺失資料資料前、後的正負樣本數量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7636C579-ECA8-4327-8A61-5F65EDC45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80" y="1366213"/>
            <a:ext cx="3640662" cy="345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D9A5498-8E6A-41C4-AF61-D3909F58E177}"/>
                  </a:ext>
                </a:extLst>
              </p:cNvPr>
              <p:cNvSpPr txBox="1"/>
              <p:nvPr/>
            </p:nvSpPr>
            <p:spPr>
              <a:xfrm>
                <a:off x="3960230" y="1426669"/>
                <a:ext cx="2660635" cy="37315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73772" lvl="1" indent="-136886">
                  <a:lnSpc>
                    <a:spcPct val="150000"/>
                  </a:lnSpc>
                  <a:buSzPts val="1600"/>
                  <a:buFont typeface="Arial"/>
                  <a:buChar char="•"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刪除前的正負樣本比值為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136886" lvl="1">
                  <a:lnSpc>
                    <a:spcPct val="150000"/>
                  </a:lnSpc>
                  <a:buSzPts val="16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21917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8774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 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2.50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273772" lvl="1" indent="-136886">
                  <a:lnSpc>
                    <a:spcPct val="150000"/>
                  </a:lnSpc>
                  <a:buSzPts val="1600"/>
                  <a:buFont typeface="Arial"/>
                  <a:buChar char="•"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刪除後的正負樣本比值為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136886" lvl="1">
                  <a:lnSpc>
                    <a:spcPct val="150000"/>
                  </a:lnSpc>
                  <a:buSzPts val="16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19833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7833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= 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2.53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136886" lvl="1">
                  <a:lnSpc>
                    <a:spcPct val="150000"/>
                  </a:lnSpc>
                  <a:buSzPts val="1600"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422636" lvl="1" indent="-285750">
                  <a:lnSpc>
                    <a:spcPct val="150000"/>
                  </a:lnSpc>
                  <a:buSzPts val="1600"/>
                  <a:buFont typeface="Arial" panose="020B0604020202020204" pitchFamily="34" charset="0"/>
                  <a:buChar char="•"/>
                </a:pP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比值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&lt; 3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，較無數據不平衡之問題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273772" lvl="1" indent="-136886">
                  <a:lnSpc>
                    <a:spcPct val="200000"/>
                  </a:lnSpc>
                  <a:buSzPts val="1600"/>
                  <a:buFont typeface="Arial"/>
                  <a:buChar char="•"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  <a:p>
                <a:pPr marL="273772" lvl="1" indent="-136886">
                  <a:lnSpc>
                    <a:spcPct val="200000"/>
                  </a:lnSpc>
                  <a:buSzPts val="1600"/>
                  <a:buFont typeface="Arial"/>
                  <a:buChar char="•"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D9A5498-8E6A-41C4-AF61-D3909F58E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230" y="1426669"/>
                <a:ext cx="2660635" cy="3731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2F0A98AC-7349-4971-87C0-D8C0B79D4E9E}"/>
              </a:ext>
            </a:extLst>
          </p:cNvPr>
          <p:cNvSpPr txBox="1"/>
          <p:nvPr/>
        </p:nvSpPr>
        <p:spPr>
          <a:xfrm>
            <a:off x="259020" y="651445"/>
            <a:ext cx="1033232" cy="3385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資料分析</a:t>
            </a:r>
          </a:p>
        </p:txBody>
      </p:sp>
    </p:spTree>
    <p:extLst>
      <p:ext uri="{BB962C8B-B14F-4D97-AF65-F5344CB8AC3E}">
        <p14:creationId xmlns:p14="http://schemas.microsoft.com/office/powerpoint/2010/main" val="312336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b62ae4a0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dirty="0"/>
              <a:t>資料預處理與分析</a:t>
            </a:r>
            <a:endParaRPr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0B931E-E870-46A9-B014-B0647F356F86}"/>
              </a:ext>
            </a:extLst>
          </p:cNvPr>
          <p:cNvSpPr txBox="1"/>
          <p:nvPr/>
        </p:nvSpPr>
        <p:spPr>
          <a:xfrm>
            <a:off x="477166" y="1054507"/>
            <a:ext cx="2425261" cy="45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36" lvl="1" indent="-285750">
              <a:lnSpc>
                <a:spcPct val="200000"/>
              </a:lnSpc>
              <a:buSzPts val="16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資料集中的男女數量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0A98AC-7349-4971-87C0-D8C0B79D4E9E}"/>
              </a:ext>
            </a:extLst>
          </p:cNvPr>
          <p:cNvSpPr txBox="1"/>
          <p:nvPr/>
        </p:nvSpPr>
        <p:spPr>
          <a:xfrm>
            <a:off x="259020" y="651445"/>
            <a:ext cx="1033232" cy="3385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資料分析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DBCAE6D-7CCA-4400-B754-612ABF42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84" y="1560714"/>
            <a:ext cx="2425261" cy="315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59EE0AC-53E2-42FB-B95B-0B15C61270C2}"/>
              </a:ext>
            </a:extLst>
          </p:cNvPr>
          <p:cNvSpPr txBox="1"/>
          <p:nvPr/>
        </p:nvSpPr>
        <p:spPr>
          <a:xfrm>
            <a:off x="3536259" y="921595"/>
            <a:ext cx="2926140" cy="45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2636" lvl="1" indent="-285750">
              <a:lnSpc>
                <a:spcPct val="200000"/>
              </a:lnSpc>
              <a:buSzPts val="1600"/>
              <a:buFont typeface="Arial" panose="020B0604020202020204" pitchFamily="34" charset="0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資料集中的男女患病比例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4348" name="Picture 12">
            <a:extLst>
              <a:ext uri="{FF2B5EF4-FFF2-40B4-BE49-F238E27FC236}">
                <a16:creationId xmlns:a16="http://schemas.microsoft.com/office/drawing/2014/main" id="{9682409A-3DB2-4F35-9AF2-782E8C9EA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659" y="1458506"/>
            <a:ext cx="2637341" cy="136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A412353C-EB1D-4AF5-AECC-0CA401AE81DA}"/>
              </a:ext>
            </a:extLst>
          </p:cNvPr>
          <p:cNvSpPr txBox="1"/>
          <p:nvPr/>
        </p:nvSpPr>
        <p:spPr>
          <a:xfrm>
            <a:off x="4728147" y="2821132"/>
            <a:ext cx="5423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male</a:t>
            </a:r>
            <a:endParaRPr lang="zh-TW" altLang="en-US" sz="1200" dirty="0"/>
          </a:p>
        </p:txBody>
      </p:sp>
      <p:pic>
        <p:nvPicPr>
          <p:cNvPr id="14350" name="Picture 14">
            <a:extLst>
              <a:ext uri="{FF2B5EF4-FFF2-40B4-BE49-F238E27FC236}">
                <a16:creationId xmlns:a16="http://schemas.microsoft.com/office/drawing/2014/main" id="{1B68BCB1-BF2E-482F-928A-E6E9680C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659" y="3188817"/>
            <a:ext cx="2637341" cy="1366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D88F453A-E928-461C-A45E-032E060224C2}"/>
              </a:ext>
            </a:extLst>
          </p:cNvPr>
          <p:cNvSpPr txBox="1"/>
          <p:nvPr/>
        </p:nvSpPr>
        <p:spPr>
          <a:xfrm>
            <a:off x="4671469" y="4555107"/>
            <a:ext cx="6557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female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73817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b62ae4a0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dirty="0"/>
              <a:t>資料預處理與分析</a:t>
            </a:r>
            <a:endParaRPr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20B931E-E870-46A9-B014-B0647F356F86}"/>
              </a:ext>
            </a:extLst>
          </p:cNvPr>
          <p:cNvSpPr txBox="1"/>
          <p:nvPr/>
        </p:nvSpPr>
        <p:spPr>
          <a:xfrm>
            <a:off x="1178896" y="1054748"/>
            <a:ext cx="5410829" cy="175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觀察年齡與是否患病的關係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F0A98AC-7349-4971-87C0-D8C0B79D4E9E}"/>
              </a:ext>
            </a:extLst>
          </p:cNvPr>
          <p:cNvSpPr txBox="1"/>
          <p:nvPr/>
        </p:nvSpPr>
        <p:spPr>
          <a:xfrm>
            <a:off x="259020" y="651445"/>
            <a:ext cx="1033232" cy="3385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資料分析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423DB5F-E4AC-4937-B557-028B8A14B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1561056"/>
            <a:ext cx="4170073" cy="3177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1828C28-64F6-476E-9C51-E1BD32692E34}"/>
              </a:ext>
            </a:extLst>
          </p:cNvPr>
          <p:cNvSpPr txBox="1"/>
          <p:nvPr/>
        </p:nvSpPr>
        <p:spPr>
          <a:xfrm>
            <a:off x="4607660" y="1917627"/>
            <a:ext cx="2084479" cy="175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6886" lvl="1">
              <a:lnSpc>
                <a:spcPct val="200000"/>
              </a:lnSpc>
              <a:buSzPts val="1600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發現在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50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歲前，年齡的上升不會對患病比例造成影響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3772" lvl="1" indent="-136886">
              <a:lnSpc>
                <a:spcPct val="200000"/>
              </a:lnSpc>
              <a:buSzPts val="1600"/>
              <a:buFont typeface="Arial"/>
              <a:buChar char="•"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90600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b62ae4a0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dirty="0"/>
              <a:t>資料預處理與分析</a:t>
            </a:r>
            <a:endParaRPr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90B79AC-405E-4E9D-AE05-4CA742D488FF}"/>
              </a:ext>
            </a:extLst>
          </p:cNvPr>
          <p:cNvSpPr txBox="1"/>
          <p:nvPr/>
        </p:nvSpPr>
        <p:spPr>
          <a:xfrm>
            <a:off x="259020" y="651445"/>
            <a:ext cx="1033232" cy="3385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特徵篩選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6F916F5F-6B1D-40E5-8CDC-2628D5F53055}"/>
              </a:ext>
            </a:extLst>
          </p:cNvPr>
          <p:cNvGrpSpPr/>
          <p:nvPr/>
        </p:nvGrpSpPr>
        <p:grpSpPr>
          <a:xfrm>
            <a:off x="2151812" y="820722"/>
            <a:ext cx="4643295" cy="4221349"/>
            <a:chOff x="1336472" y="820722"/>
            <a:chExt cx="4643295" cy="4221349"/>
          </a:xfrm>
        </p:grpSpPr>
        <p:pic>
          <p:nvPicPr>
            <p:cNvPr id="16" name="Google Shape;375;p14">
              <a:extLst>
                <a:ext uri="{FF2B5EF4-FFF2-40B4-BE49-F238E27FC236}">
                  <a16:creationId xmlns:a16="http://schemas.microsoft.com/office/drawing/2014/main" id="{A9304A88-2CC5-498B-A06C-70D8A14A35C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8651"/>
            <a:stretch/>
          </p:blipFill>
          <p:spPr>
            <a:xfrm>
              <a:off x="5521528" y="820722"/>
              <a:ext cx="458239" cy="38806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94" name="Picture 2">
              <a:extLst>
                <a:ext uri="{FF2B5EF4-FFF2-40B4-BE49-F238E27FC236}">
                  <a16:creationId xmlns:a16="http://schemas.microsoft.com/office/drawing/2014/main" id="{9C43D3E7-3850-4CE9-B6F5-DC80FBD62A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05" r="11420"/>
            <a:stretch/>
          </p:blipFill>
          <p:spPr bwMode="auto">
            <a:xfrm>
              <a:off x="1336472" y="820722"/>
              <a:ext cx="4185056" cy="4221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Google Shape;375;p14">
              <a:extLst>
                <a:ext uri="{FF2B5EF4-FFF2-40B4-BE49-F238E27FC236}">
                  <a16:creationId xmlns:a16="http://schemas.microsoft.com/office/drawing/2014/main" id="{34D795C6-61C8-4DF0-86CB-D1B89B96159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89060" t="90597"/>
            <a:stretch/>
          </p:blipFill>
          <p:spPr>
            <a:xfrm>
              <a:off x="5482590" y="4574199"/>
              <a:ext cx="497177" cy="3649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F2C82FF8-8906-495F-BADF-24456038CE28}"/>
              </a:ext>
            </a:extLst>
          </p:cNvPr>
          <p:cNvSpPr txBox="1"/>
          <p:nvPr/>
        </p:nvSpPr>
        <p:spPr>
          <a:xfrm>
            <a:off x="259020" y="1440815"/>
            <a:ext cx="1892792" cy="2182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seaborn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函式庫之熱力圖分析特徵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2563" indent="-18256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年齡、性別與是否患病的關係度較低</a:t>
            </a:r>
          </a:p>
        </p:txBody>
      </p:sp>
    </p:spTree>
    <p:extLst>
      <p:ext uri="{BB962C8B-B14F-4D97-AF65-F5344CB8AC3E}">
        <p14:creationId xmlns:p14="http://schemas.microsoft.com/office/powerpoint/2010/main" val="28785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b62ae4a0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dirty="0"/>
              <a:t>資料預處理與分析</a:t>
            </a:r>
            <a:endParaRPr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90B79AC-405E-4E9D-AE05-4CA742D488FF}"/>
              </a:ext>
            </a:extLst>
          </p:cNvPr>
          <p:cNvSpPr txBox="1"/>
          <p:nvPr/>
        </p:nvSpPr>
        <p:spPr>
          <a:xfrm>
            <a:off x="259020" y="651445"/>
            <a:ext cx="1033232" cy="338554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特徵篩選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43763517-33C6-4D09-9775-A2C9B0E15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484180" y="839100"/>
            <a:ext cx="4130040" cy="385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4C2C89E-79B3-4E7D-A645-9603406C38A8}"/>
              </a:ext>
            </a:extLst>
          </p:cNvPr>
          <p:cNvSpPr txBox="1"/>
          <p:nvPr/>
        </p:nvSpPr>
        <p:spPr>
          <a:xfrm>
            <a:off x="198120" y="1059264"/>
            <a:ext cx="2339340" cy="261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scikit-learn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feature_selection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函式庫分析特徵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2563" indent="-18256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 Value&lt;0.05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為顯著特徵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82563" indent="-18256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年齡、性別與是否患病的關係不顯著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0F48528-71D6-4650-A49F-A5E9B0E03062}"/>
              </a:ext>
            </a:extLst>
          </p:cNvPr>
          <p:cNvSpPr txBox="1"/>
          <p:nvPr/>
        </p:nvSpPr>
        <p:spPr>
          <a:xfrm>
            <a:off x="198120" y="3846607"/>
            <a:ext cx="227076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chemeClr val="bg2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使用模型評估時，不將年齡和性別納入考量</a:t>
            </a:r>
            <a:endParaRPr lang="en-US" altLang="zh-TW" sz="1600" b="1" dirty="0">
              <a:solidFill>
                <a:schemeClr val="bg2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7646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4b62ae4a07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r>
              <a:rPr lang="zh-TW" altLang="en-US" dirty="0"/>
              <a:t>模型評估與結果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4DA3BA6C-5795-4174-AC7C-A6CFD006E80C}"/>
              </a:ext>
            </a:extLst>
          </p:cNvPr>
          <p:cNvSpPr txBox="1"/>
          <p:nvPr/>
        </p:nvSpPr>
        <p:spPr>
          <a:xfrm>
            <a:off x="1391410" y="1631541"/>
            <a:ext cx="800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2800" b="1" i="0" u="none" strike="noStrike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zh-TW" altLang="en-US" sz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CA91468-4AD8-4758-B6A8-37F27D839343}"/>
              </a:ext>
            </a:extLst>
          </p:cNvPr>
          <p:cNvSpPr txBox="1"/>
          <p:nvPr/>
        </p:nvSpPr>
        <p:spPr>
          <a:xfrm>
            <a:off x="2653367" y="1631541"/>
            <a:ext cx="800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2800" b="1" i="0" u="none" strike="noStrike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TW" altLang="en-US" sz="1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A009314-B4A6-4DD4-BD78-0DB55954D2E7}"/>
              </a:ext>
            </a:extLst>
          </p:cNvPr>
          <p:cNvSpPr txBox="1"/>
          <p:nvPr/>
        </p:nvSpPr>
        <p:spPr>
          <a:xfrm>
            <a:off x="5513580" y="1600764"/>
            <a:ext cx="800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i="0" u="none" strike="noStrike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TW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01AC373-B75C-43A3-9FBE-0F76FA2C912B}"/>
              </a:ext>
            </a:extLst>
          </p:cNvPr>
          <p:cNvSpPr txBox="1"/>
          <p:nvPr/>
        </p:nvSpPr>
        <p:spPr>
          <a:xfrm>
            <a:off x="4083474" y="1600764"/>
            <a:ext cx="800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1" i="0" u="none" strike="noStrike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TW" alt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28B40A5-E5B1-4554-8B99-FE25BB16AADA}"/>
              </a:ext>
            </a:extLst>
          </p:cNvPr>
          <p:cNvSpPr txBox="1"/>
          <p:nvPr/>
        </p:nvSpPr>
        <p:spPr>
          <a:xfrm>
            <a:off x="1398900" y="2395681"/>
            <a:ext cx="78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ACD32B4-190D-44BE-BDDC-52751C99984A}"/>
              </a:ext>
            </a:extLst>
          </p:cNvPr>
          <p:cNvSpPr txBox="1"/>
          <p:nvPr/>
        </p:nvSpPr>
        <p:spPr>
          <a:xfrm>
            <a:off x="2485217" y="2395681"/>
            <a:ext cx="113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Linear 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EA50C52-6C88-40F4-9E3E-434A66DAF5C8}"/>
              </a:ext>
            </a:extLst>
          </p:cNvPr>
          <p:cNvSpPr txBox="1"/>
          <p:nvPr/>
        </p:nvSpPr>
        <p:spPr>
          <a:xfrm>
            <a:off x="3915324" y="2395681"/>
            <a:ext cx="113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281AA6DC-B476-4022-95EC-0995E3DFD362}"/>
              </a:ext>
            </a:extLst>
          </p:cNvPr>
          <p:cNvSpPr txBox="1"/>
          <p:nvPr/>
        </p:nvSpPr>
        <p:spPr>
          <a:xfrm>
            <a:off x="5345430" y="2395681"/>
            <a:ext cx="113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546336C-56FE-4FDA-8B51-3C5F5045888B}"/>
              </a:ext>
            </a:extLst>
          </p:cNvPr>
          <p:cNvCxnSpPr>
            <a:cxnSpLocks/>
          </p:cNvCxnSpPr>
          <p:nvPr/>
        </p:nvCxnSpPr>
        <p:spPr>
          <a:xfrm>
            <a:off x="483870" y="1451644"/>
            <a:ext cx="5916930" cy="5606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A4C359C2-D647-4BCB-9226-B16A38CEA5FA}"/>
              </a:ext>
            </a:extLst>
          </p:cNvPr>
          <p:cNvCxnSpPr>
            <a:cxnSpLocks/>
          </p:cNvCxnSpPr>
          <p:nvPr/>
        </p:nvCxnSpPr>
        <p:spPr>
          <a:xfrm>
            <a:off x="530169" y="3850712"/>
            <a:ext cx="589026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D261DB8-F6D5-4F70-A311-E5E03AD55FA4}"/>
              </a:ext>
            </a:extLst>
          </p:cNvPr>
          <p:cNvSpPr txBox="1"/>
          <p:nvPr/>
        </p:nvSpPr>
        <p:spPr>
          <a:xfrm>
            <a:off x="542706" y="2488014"/>
            <a:ext cx="1139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416A326-9926-4923-B8E0-FA40EFF0DC23}"/>
              </a:ext>
            </a:extLst>
          </p:cNvPr>
          <p:cNvSpPr txBox="1"/>
          <p:nvPr/>
        </p:nvSpPr>
        <p:spPr>
          <a:xfrm>
            <a:off x="577245" y="3288857"/>
            <a:ext cx="725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800C24A3-EC0A-432E-AEE4-B7520181E184}"/>
              </a:ext>
            </a:extLst>
          </p:cNvPr>
          <p:cNvCxnSpPr>
            <a:cxnSpLocks/>
          </p:cNvCxnSpPr>
          <p:nvPr/>
        </p:nvCxnSpPr>
        <p:spPr>
          <a:xfrm>
            <a:off x="483870" y="2154761"/>
            <a:ext cx="5903595" cy="4290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61DAA11-9F3D-4E8E-80E9-BFA0BAB77A6D}"/>
              </a:ext>
            </a:extLst>
          </p:cNvPr>
          <p:cNvSpPr txBox="1"/>
          <p:nvPr/>
        </p:nvSpPr>
        <p:spPr>
          <a:xfrm>
            <a:off x="1496034" y="3304246"/>
            <a:ext cx="590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0.711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545EDAD7-EB68-4979-B5C4-45D5F33A5EC5}"/>
              </a:ext>
            </a:extLst>
          </p:cNvPr>
          <p:cNvSpPr txBox="1"/>
          <p:nvPr/>
        </p:nvSpPr>
        <p:spPr>
          <a:xfrm>
            <a:off x="2757991" y="3304246"/>
            <a:ext cx="590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5075EB70-8109-4B21-BBFC-9D9B2161E1ED}"/>
              </a:ext>
            </a:extLst>
          </p:cNvPr>
          <p:cNvSpPr txBox="1"/>
          <p:nvPr/>
        </p:nvSpPr>
        <p:spPr>
          <a:xfrm>
            <a:off x="4188097" y="3304246"/>
            <a:ext cx="590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0.900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81E9485-94E2-4908-AA6D-000F4643CA11}"/>
              </a:ext>
            </a:extLst>
          </p:cNvPr>
          <p:cNvSpPr txBox="1"/>
          <p:nvPr/>
        </p:nvSpPr>
        <p:spPr>
          <a:xfrm>
            <a:off x="5618204" y="3304246"/>
            <a:ext cx="590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0.983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043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0A27A4-A7C6-4E3E-A7E6-4D2D4937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模型評估與結果</a:t>
            </a:r>
            <a:r>
              <a:rPr lang="en-US" altLang="zh-TW" dirty="0"/>
              <a:t>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br>
              <a:rPr lang="zh-TW" altLang="en-US" dirty="0"/>
            </a:b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4DA3AA8-AB7D-4AB0-A3A1-C89632719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049772"/>
              </p:ext>
            </p:extLst>
          </p:nvPr>
        </p:nvGraphicFramePr>
        <p:xfrm>
          <a:off x="954024" y="1259096"/>
          <a:ext cx="4949952" cy="29074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37488">
                  <a:extLst>
                    <a:ext uri="{9D8B030D-6E8A-4147-A177-3AD203B41FA5}">
                      <a16:colId xmlns:a16="http://schemas.microsoft.com/office/drawing/2014/main" val="1710295446"/>
                    </a:ext>
                  </a:extLst>
                </a:gridCol>
                <a:gridCol w="1237488">
                  <a:extLst>
                    <a:ext uri="{9D8B030D-6E8A-4147-A177-3AD203B41FA5}">
                      <a16:colId xmlns:a16="http://schemas.microsoft.com/office/drawing/2014/main" val="1886929799"/>
                    </a:ext>
                  </a:extLst>
                </a:gridCol>
                <a:gridCol w="1237488">
                  <a:extLst>
                    <a:ext uri="{9D8B030D-6E8A-4147-A177-3AD203B41FA5}">
                      <a16:colId xmlns:a16="http://schemas.microsoft.com/office/drawing/2014/main" val="2563172960"/>
                    </a:ext>
                  </a:extLst>
                </a:gridCol>
                <a:gridCol w="1237488">
                  <a:extLst>
                    <a:ext uri="{9D8B030D-6E8A-4147-A177-3AD203B41FA5}">
                      <a16:colId xmlns:a16="http://schemas.microsoft.com/office/drawing/2014/main" val="1219549396"/>
                    </a:ext>
                  </a:extLst>
                </a:gridCol>
              </a:tblGrid>
              <a:tr h="484571">
                <a:tc>
                  <a:txBody>
                    <a:bodyPr/>
                    <a:lstStyle/>
                    <a:p>
                      <a:pPr fontAlgn="t"/>
                      <a:r>
                        <a:rPr lang="zh-TW" altLang="en-US" sz="1000" dirty="0">
                          <a:effectLst/>
                        </a:rPr>
                        <a:t> </a:t>
                      </a:r>
                    </a:p>
                  </a:txBody>
                  <a:tcPr marL="76033" marR="76033" marT="76033" marB="76033"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878152"/>
                  </a:ext>
                </a:extLst>
              </a:tr>
              <a:tr h="48457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3768842"/>
                  </a:ext>
                </a:extLst>
              </a:tr>
              <a:tr h="48457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357666"/>
                  </a:ext>
                </a:extLst>
              </a:tr>
              <a:tr h="48457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TW" alt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076370"/>
                  </a:ext>
                </a:extLst>
              </a:tr>
              <a:tr h="48457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avg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439991"/>
                  </a:ext>
                </a:extLst>
              </a:tr>
              <a:tr h="48457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avg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TW" sz="14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</a:t>
                      </a:r>
                      <a:endParaRPr lang="zh-TW" altLang="en-US" sz="1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33" marR="76033" marT="76033" marB="76033">
                    <a:lnL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83350839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0DBF7A39-30EB-49A9-971B-3A0BC626E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3196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417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ECD61F0-9CC8-45F3-B2DE-8EDFE1CBD69B}"/>
              </a:ext>
            </a:extLst>
          </p:cNvPr>
          <p:cNvSpPr txBox="1">
            <a:spLocks/>
          </p:cNvSpPr>
          <p:nvPr/>
        </p:nvSpPr>
        <p:spPr>
          <a:xfrm>
            <a:off x="692400" y="399300"/>
            <a:ext cx="5778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DFKai-SB"/>
              <a:buNone/>
              <a:defRPr sz="2800" b="0" i="0" u="none" strike="noStrike" cap="none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ExtraBold"/>
              <a:buNone/>
              <a:defRPr sz="2700" b="0" i="0" u="none" strike="noStrike" cap="none">
                <a:solidFill>
                  <a:schemeClr val="dk1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ExtraBold"/>
              <a:buNone/>
              <a:defRPr sz="2700" b="0" i="0" u="none" strike="noStrike" cap="none">
                <a:solidFill>
                  <a:schemeClr val="dk1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ExtraBold"/>
              <a:buNone/>
              <a:defRPr sz="2700" b="0" i="0" u="none" strike="noStrike" cap="none">
                <a:solidFill>
                  <a:schemeClr val="dk1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ExtraBold"/>
              <a:buNone/>
              <a:defRPr sz="2700" b="0" i="0" u="none" strike="noStrike" cap="none">
                <a:solidFill>
                  <a:schemeClr val="dk1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ExtraBold"/>
              <a:buNone/>
              <a:defRPr sz="2700" b="0" i="0" u="none" strike="noStrike" cap="none">
                <a:solidFill>
                  <a:schemeClr val="dk1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ExtraBold"/>
              <a:buNone/>
              <a:defRPr sz="2700" b="0" i="0" u="none" strike="noStrike" cap="none">
                <a:solidFill>
                  <a:schemeClr val="dk1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ExtraBold"/>
              <a:buNone/>
              <a:defRPr sz="2700" b="0" i="0" u="none" strike="noStrike" cap="none">
                <a:solidFill>
                  <a:schemeClr val="dk1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nek Devanagari ExtraBold"/>
              <a:buNone/>
              <a:defRPr sz="2700" b="0" i="0" u="none" strike="noStrike" cap="none">
                <a:solidFill>
                  <a:schemeClr val="dk1"/>
                </a:solidFill>
                <a:latin typeface="Anek Devanagari ExtraBold"/>
                <a:ea typeface="Anek Devanagari ExtraBold"/>
                <a:cs typeface="Anek Devanagari ExtraBold"/>
                <a:sym typeface="Anek Devanagari ExtraBold"/>
              </a:defRPr>
            </a:lvl9pPr>
          </a:lstStyle>
          <a:p>
            <a:r>
              <a:rPr lang="zh-TW" altLang="en-US" dirty="0"/>
              <a:t>模型評估與結果</a:t>
            </a:r>
            <a:r>
              <a:rPr lang="en-US" altLang="zh-TW" dirty="0"/>
              <a:t>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4DAD3FF-8492-4530-BADD-E19672DBEF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" t="3100" r="333" b="1480"/>
          <a:stretch/>
        </p:blipFill>
        <p:spPr bwMode="auto">
          <a:xfrm>
            <a:off x="322580" y="1142035"/>
            <a:ext cx="6212840" cy="121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03FC88B3-4C41-4FCD-8B5F-33B6491AA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" t="2280" r="533" b="1991"/>
          <a:stretch/>
        </p:blipFill>
        <p:spPr bwMode="auto">
          <a:xfrm>
            <a:off x="322580" y="2929149"/>
            <a:ext cx="6212840" cy="1100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7082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A2BED40-0FF0-4E63-97F6-8BA2E718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46900"/>
            <a:ext cx="5778000" cy="592200"/>
          </a:xfrm>
        </p:spPr>
        <p:txBody>
          <a:bodyPr/>
          <a:lstStyle/>
          <a:p>
            <a:r>
              <a:rPr lang="zh-TW" altLang="en-US" dirty="0"/>
              <a:t>模型評估與結果</a:t>
            </a:r>
            <a:r>
              <a:rPr lang="en-US" altLang="zh-TW" dirty="0"/>
              <a:t>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7D36E96-47DF-414A-852B-25E5895DA4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4" t="-1" r="6426" b="46065"/>
          <a:stretch/>
        </p:blipFill>
        <p:spPr bwMode="auto">
          <a:xfrm>
            <a:off x="540000" y="1245396"/>
            <a:ext cx="5778000" cy="136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2E31B49-896E-44FD-AE57-EA5C828F8B21}"/>
              </a:ext>
            </a:extLst>
          </p:cNvPr>
          <p:cNvSpPr txBox="1"/>
          <p:nvPr/>
        </p:nvSpPr>
        <p:spPr>
          <a:xfrm>
            <a:off x="408152" y="906842"/>
            <a:ext cx="357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第一棵樹的第一、二階層的節點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811B38E-0621-4533-9C0D-975D16E2DE76}"/>
              </a:ext>
            </a:extLst>
          </p:cNvPr>
          <p:cNvSpPr txBox="1"/>
          <p:nvPr/>
        </p:nvSpPr>
        <p:spPr>
          <a:xfrm>
            <a:off x="408152" y="2680319"/>
            <a:ext cx="357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第二棵樹的第一、二階層的節點</a:t>
            </a: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61CFEEDD-7AE5-4F03-A7B8-EC5B4E75AF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59" r="1"/>
          <a:stretch/>
        </p:blipFill>
        <p:spPr bwMode="auto">
          <a:xfrm>
            <a:off x="540000" y="3331717"/>
            <a:ext cx="5294811" cy="127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>
            <a:extLst>
              <a:ext uri="{FF2B5EF4-FFF2-40B4-BE49-F238E27FC236}">
                <a16:creationId xmlns:a16="http://schemas.microsoft.com/office/drawing/2014/main" id="{1646F242-B9F6-4274-B580-6C881BCD9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3738013"/>
            <a:ext cx="1651537" cy="5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1DA2539-B594-4271-9FD1-0AF9D5E98541}"/>
              </a:ext>
            </a:extLst>
          </p:cNvPr>
          <p:cNvSpPr txBox="1"/>
          <p:nvPr/>
        </p:nvSpPr>
        <p:spPr>
          <a:xfrm>
            <a:off x="2191537" y="3636494"/>
            <a:ext cx="7859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/>
              <a:t>True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56429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A2BED40-0FF0-4E63-97F6-8BA2E718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09115"/>
            <a:ext cx="5778000" cy="592200"/>
          </a:xfrm>
        </p:spPr>
        <p:txBody>
          <a:bodyPr/>
          <a:lstStyle/>
          <a:p>
            <a:r>
              <a:rPr lang="zh-TW" altLang="en-US" dirty="0"/>
              <a:t>模型評估與結果</a:t>
            </a:r>
            <a:r>
              <a:rPr lang="en-US" altLang="zh-TW" dirty="0"/>
              <a:t>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BEA0FEE-43DF-4700-B444-49EA66927932}"/>
              </a:ext>
            </a:extLst>
          </p:cNvPr>
          <p:cNvSpPr txBox="1"/>
          <p:nvPr/>
        </p:nvSpPr>
        <p:spPr>
          <a:xfrm>
            <a:off x="405246" y="1451499"/>
            <a:ext cx="6184480" cy="2972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Total Bilirubin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：膽紅素，</a:t>
            </a:r>
            <a:r>
              <a:rPr lang="zh-TW" altLang="en-US" sz="16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膽紅素值如果上升，就可能會有膽管阻塞、肝細胞受傷或紅血球破壞過多等情形發生。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Sgpt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Alanine Aminotransferase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gpt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轉氨酶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Sgot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Aspartate Aminotransferase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got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轉氨脢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271463">
              <a:lnSpc>
                <a:spcPct val="200000"/>
              </a:lnSpc>
            </a:pPr>
            <a:r>
              <a:rPr lang="en-US" altLang="zh-TW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GOT</a:t>
            </a:r>
            <a:r>
              <a:rPr lang="zh-TW" altLang="en-US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、</a:t>
            </a:r>
            <a:r>
              <a:rPr lang="en-US" altLang="zh-TW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GPT</a:t>
            </a:r>
            <a:r>
              <a:rPr lang="zh-TW" altLang="en-US" sz="1600" dirty="0">
                <a:solidFill>
                  <a:schemeClr val="bg2">
                    <a:lumMod val="7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轉安酶</a:t>
            </a:r>
            <a:r>
              <a:rPr lang="zh-TW" altLang="en-US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存在於肝細胞內，當細胞壞死破壞之後，會釋出到血液中，所以肝發炎時</a:t>
            </a:r>
            <a:r>
              <a:rPr lang="en-US" altLang="zh-TW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GOT</a:t>
            </a:r>
            <a:r>
              <a:rPr lang="zh-TW" altLang="en-US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、</a:t>
            </a:r>
            <a:r>
              <a:rPr lang="en-US" altLang="zh-TW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GPT</a:t>
            </a:r>
            <a:r>
              <a:rPr lang="zh-TW" altLang="en-US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轉安酶之</a:t>
            </a:r>
            <a:r>
              <a:rPr lang="zh-TW" altLang="en-US" sz="1600" b="0" i="0" u="none" strike="noStrike" dirty="0">
                <a:solidFill>
                  <a:schemeClr val="bg2">
                    <a:lumMod val="75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值都可能上升。</a:t>
            </a:r>
            <a:endParaRPr lang="zh-TW" altLang="en-US" sz="1600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E8AC66E-41AA-4024-A89D-5DC9351253EB}"/>
              </a:ext>
            </a:extLst>
          </p:cNvPr>
          <p:cNvSpPr txBox="1"/>
          <p:nvPr/>
        </p:nvSpPr>
        <p:spPr>
          <a:xfrm>
            <a:off x="340067" y="941741"/>
            <a:ext cx="1148668" cy="36933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重要特徵</a:t>
            </a:r>
          </a:p>
        </p:txBody>
      </p:sp>
    </p:spTree>
    <p:extLst>
      <p:ext uri="{BB962C8B-B14F-4D97-AF65-F5344CB8AC3E}">
        <p14:creationId xmlns:p14="http://schemas.microsoft.com/office/powerpoint/2010/main" val="643073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A2BED40-0FF0-4E63-97F6-8BA2E718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09115"/>
            <a:ext cx="5778000" cy="592200"/>
          </a:xfrm>
        </p:spPr>
        <p:txBody>
          <a:bodyPr/>
          <a:lstStyle/>
          <a:p>
            <a:r>
              <a:rPr lang="zh-TW" altLang="en-US" dirty="0"/>
              <a:t>模型評估與結果</a:t>
            </a:r>
            <a:r>
              <a:rPr lang="en-US" altLang="zh-TW" dirty="0"/>
              <a:t>-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br>
              <a:rPr lang="zh-TW" altLang="en-US" dirty="0"/>
            </a:b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E60D98-492C-46C5-895D-82099F3F7BD3}"/>
              </a:ext>
            </a:extLst>
          </p:cNvPr>
          <p:cNvSpPr txBox="1"/>
          <p:nvPr/>
        </p:nvSpPr>
        <p:spPr>
          <a:xfrm>
            <a:off x="687689" y="1791840"/>
            <a:ext cx="5501514" cy="1895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600" b="0" i="0" u="none" strike="noStrike" dirty="0">
                <a:solidFill>
                  <a:srgbClr val="D4A517"/>
                </a:solidFill>
                <a:effectLst/>
                <a:latin typeface="Times New Roman" panose="02020603050405020304" pitchFamily="18" charset="0"/>
              </a:rPr>
              <a:t>ALB Albumin </a:t>
            </a:r>
            <a:r>
              <a:rPr lang="zh-TW" altLang="en-US" sz="1600" b="0" i="0" u="none" strike="noStrike" dirty="0">
                <a:solidFill>
                  <a:srgbClr val="D4A517"/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白蛋白：</a:t>
            </a:r>
            <a:endParaRPr lang="zh-TW" altLang="en-US" sz="1600" b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zh-TW" altLang="en-US" sz="1600" b="0" i="0" u="none" strike="noStrike" dirty="0">
                <a:solidFill>
                  <a:srgbClr val="2D3959"/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白蛋白是在肝臟形成，約佔血中蛋白的</a:t>
            </a:r>
            <a:r>
              <a:rPr lang="en-US" altLang="zh-TW" sz="1600" b="0" i="0" u="none" strike="noStrike" dirty="0">
                <a:solidFill>
                  <a:srgbClr val="2D3959"/>
                </a:solidFill>
                <a:effectLst/>
                <a:latin typeface="Times New Roman" panose="02020603050405020304" pitchFamily="18" charset="0"/>
              </a:rPr>
              <a:t>50~60%</a:t>
            </a:r>
            <a:r>
              <a:rPr lang="zh-TW" altLang="en-US" sz="1600" b="0" i="0" u="none" strike="noStrike" dirty="0">
                <a:solidFill>
                  <a:srgbClr val="2D3959"/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，肝臟製造不足或由腎臟或腸道流失太多，都可能造成白蛋白值過</a:t>
            </a:r>
            <a:r>
              <a:rPr lang="zh-TW" altLang="en-US" sz="1600" b="0" i="0" u="none" strike="noStrike" dirty="0">
                <a:solidFill>
                  <a:srgbClr val="FF6B65"/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低</a:t>
            </a:r>
            <a:r>
              <a:rPr lang="zh-TW" altLang="en-US" sz="1600" b="0" i="0" u="none" strike="noStrike" dirty="0">
                <a:solidFill>
                  <a:srgbClr val="2D3959"/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。白蛋白主要功能是維持血液的滲透壓，滲透壓不足時就容易造成水腫，例如肝病患者的腹水就是這樣形成。</a:t>
            </a:r>
            <a:endParaRPr lang="zh-TW" altLang="en-US" sz="1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3E76E15-3772-4941-B9E0-A35845CE2EEB}"/>
              </a:ext>
            </a:extLst>
          </p:cNvPr>
          <p:cNvSpPr txBox="1"/>
          <p:nvPr/>
        </p:nvSpPr>
        <p:spPr>
          <a:xfrm>
            <a:off x="340067" y="941741"/>
            <a:ext cx="1148668" cy="36933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重要特徵</a:t>
            </a:r>
          </a:p>
        </p:txBody>
      </p:sp>
    </p:spTree>
    <p:extLst>
      <p:ext uri="{BB962C8B-B14F-4D97-AF65-F5344CB8AC3E}">
        <p14:creationId xmlns:p14="http://schemas.microsoft.com/office/powerpoint/2010/main" val="2778537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A2BED40-0FF0-4E63-97F6-8BA2E718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09115"/>
            <a:ext cx="5778000" cy="592200"/>
          </a:xfrm>
        </p:spPr>
        <p:txBody>
          <a:bodyPr/>
          <a:lstStyle/>
          <a:p>
            <a:r>
              <a:rPr lang="zh-TW" altLang="en-US" dirty="0"/>
              <a:t>知識發現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5D4857C-4769-4C63-8631-0D7477F20E27}"/>
              </a:ext>
            </a:extLst>
          </p:cNvPr>
          <p:cNvSpPr txBox="1"/>
          <p:nvPr/>
        </p:nvSpPr>
        <p:spPr>
          <a:xfrm>
            <a:off x="657461" y="1035312"/>
            <a:ext cx="5778000" cy="280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指數變化原因：</a:t>
            </a:r>
          </a:p>
          <a:p>
            <a:pPr>
              <a:lnSpc>
                <a:spcPct val="150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1.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   病毒感染：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肝炎</a:t>
            </a:r>
          </a:p>
          <a:p>
            <a:pPr marL="342900" indent="-342900">
              <a:lnSpc>
                <a:spcPct val="150000"/>
              </a:lnSpc>
              <a:buAutoNum type="arabicPeriod" startAt="2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</a:rPr>
              <a:t>飲食不當、生活作息不佳、仰賴酒精、藥物等多種因素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342900" indent="-342900">
              <a:lnSpc>
                <a:spcPct val="150000"/>
              </a:lnSpc>
              <a:buAutoNum type="arabicPeriod" startAt="2"/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000" b="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其實工作勞累不一定會爆肝，反而是</a:t>
            </a:r>
            <a:r>
              <a:rPr lang="en-US" altLang="zh-TW" sz="2000" b="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“</a:t>
            </a:r>
            <a:r>
              <a:rPr lang="zh-TW" altLang="en-US" sz="2000" b="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暴飲暴食</a:t>
            </a:r>
            <a:r>
              <a:rPr lang="en-US" altLang="zh-TW" sz="2000" b="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”</a:t>
            </a:r>
            <a:r>
              <a:rPr lang="zh-TW" altLang="en-US" sz="2000" b="0" i="0" u="none" strike="noStrike" dirty="0">
                <a:solidFill>
                  <a:schemeClr val="bg2">
                    <a:lumMod val="50000"/>
                  </a:schemeClr>
                </a:solidFill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更易有爆肝風險！</a:t>
            </a:r>
            <a:endParaRPr lang="zh-TW" altLang="en-US" sz="18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0324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A2BED40-0FF0-4E63-97F6-8BA2E718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09115"/>
            <a:ext cx="5778000" cy="592200"/>
          </a:xfrm>
        </p:spPr>
        <p:txBody>
          <a:bodyPr/>
          <a:lstStyle/>
          <a:p>
            <a:r>
              <a:rPr lang="zh-TW" altLang="en-US" dirty="0"/>
              <a:t>知識發現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23F4E1A6-DAFA-4EF2-BB54-C3919D280D76}"/>
              </a:ext>
            </a:extLst>
          </p:cNvPr>
          <p:cNvGrpSpPr/>
          <p:nvPr/>
        </p:nvGrpSpPr>
        <p:grpSpPr>
          <a:xfrm>
            <a:off x="256197" y="1317130"/>
            <a:ext cx="6345605" cy="3017126"/>
            <a:chOff x="718245" y="1304938"/>
            <a:chExt cx="5599755" cy="2662499"/>
          </a:xfrm>
        </p:grpSpPr>
        <p:pic>
          <p:nvPicPr>
            <p:cNvPr id="15362" name="Picture 2">
              <a:extLst>
                <a:ext uri="{FF2B5EF4-FFF2-40B4-BE49-F238E27FC236}">
                  <a16:creationId xmlns:a16="http://schemas.microsoft.com/office/drawing/2014/main" id="{2E2352F6-6CE4-47AF-8814-CB0888A3E1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8347" b="8502"/>
            <a:stretch/>
          </p:blipFill>
          <p:spPr bwMode="auto">
            <a:xfrm>
              <a:off x="718245" y="1304938"/>
              <a:ext cx="5599755" cy="2662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364" name="Picture 4">
              <a:extLst>
                <a:ext uri="{FF2B5EF4-FFF2-40B4-BE49-F238E27FC236}">
                  <a16:creationId xmlns:a16="http://schemas.microsoft.com/office/drawing/2014/main" id="{0A641BF7-23EA-4BC2-A4B3-E16B6B5E26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678" t="18522" b="57066"/>
            <a:stretch/>
          </p:blipFill>
          <p:spPr bwMode="auto">
            <a:xfrm>
              <a:off x="4855716" y="1843310"/>
              <a:ext cx="1462284" cy="7103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4505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A2BED40-0FF0-4E63-97F6-8BA2E718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09115"/>
            <a:ext cx="5778000" cy="592200"/>
          </a:xfrm>
        </p:spPr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AF1ADB-66A2-4483-B5D9-0D489FA4FA6F}"/>
              </a:ext>
            </a:extLst>
          </p:cNvPr>
          <p:cNvSpPr txBox="1"/>
          <p:nvPr/>
        </p:nvSpPr>
        <p:spPr>
          <a:xfrm>
            <a:off x="663960" y="952500"/>
            <a:ext cx="5843520" cy="336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b="0" i="0" u="none" strike="noStrike" dirty="0"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透過資料分析我們找到了推測肝病的重要指數</a:t>
            </a:r>
            <a:r>
              <a:rPr lang="en-US" altLang="zh-TW" sz="1800" b="0" i="0" u="none" strike="noStrike" dirty="0"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(</a:t>
            </a:r>
            <a:r>
              <a:rPr lang="zh-TW" altLang="en-US" sz="1800" b="0" i="0" u="none" strike="noStrike" dirty="0"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膽紅素、</a:t>
            </a:r>
            <a:r>
              <a:rPr lang="en-US" altLang="zh-TW" sz="1800" b="0" i="0" u="none" strike="noStrike" dirty="0" err="1"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gpt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轉氨酶、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got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</a:rPr>
              <a:t>轉氨酶</a:t>
            </a:r>
            <a:r>
              <a:rPr lang="en-US" altLang="zh-TW" sz="1800" b="0" i="0" u="none" strike="noStrike" dirty="0"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)</a:t>
            </a:r>
            <a:r>
              <a:rPr lang="zh-TW" altLang="en-US" sz="1800" b="0" i="0" u="none" strike="noStrike" dirty="0"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，並進一步地查出造成這些指數變動的原因。</a:t>
            </a:r>
            <a:endParaRPr lang="en-US" altLang="zh-TW" sz="1800" b="0" i="0" u="none" strike="noStrike" dirty="0">
              <a:effectLst/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>
              <a:lnSpc>
                <a:spcPct val="150000"/>
              </a:lnSpc>
            </a:pPr>
            <a:endParaRPr lang="en-US" altLang="zh-TW" sz="1800" dirty="0"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b="0" i="0" u="none" strike="noStrike" dirty="0"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找到原因就可以做出解決方法。</a:t>
            </a:r>
            <a:endParaRPr lang="en-US" altLang="zh-TW" sz="1800" b="0" i="0" u="none" strike="noStrike" dirty="0">
              <a:effectLst/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>
              <a:lnSpc>
                <a:spcPct val="150000"/>
              </a:lnSpc>
            </a:pPr>
            <a:endParaRPr lang="en-US" altLang="zh-TW" sz="1800" dirty="0">
              <a:latin typeface="DFKai-SB" panose="03000509000000000000" pitchFamily="65" charset="-120"/>
              <a:ea typeface="DFKai-SB" panose="03000509000000000000" pitchFamily="65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b="0" i="0" u="none" strike="noStrike" dirty="0">
                <a:effectLst/>
                <a:latin typeface="DFKai-SB" panose="03000509000000000000" pitchFamily="65" charset="-120"/>
                <a:ea typeface="DFKai-SB" panose="03000509000000000000" pitchFamily="65" charset="-120"/>
              </a:rPr>
              <a:t>肝臟是沉默的器官，希望透過這個報告可以提高人們對於肝病的重視。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6337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A2BED40-0FF0-4E63-97F6-8BA2E7182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209115"/>
            <a:ext cx="5778000" cy="592200"/>
          </a:xfrm>
        </p:spPr>
        <p:txBody>
          <a:bodyPr/>
          <a:lstStyle/>
          <a:p>
            <a:r>
              <a:rPr lang="zh-TW" altLang="en-US" dirty="0"/>
              <a:t>文獻參考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773D96-C39C-4837-ABDA-728DA9045F35}"/>
              </a:ext>
            </a:extLst>
          </p:cNvPr>
          <p:cNvSpPr txBox="1"/>
          <p:nvPr/>
        </p:nvSpPr>
        <p:spPr>
          <a:xfrm>
            <a:off x="702060" y="1036529"/>
            <a:ext cx="56159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1.</a:t>
            </a:r>
            <a:r>
              <a:rPr lang="zh-TW" altLang="en-US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中山醫學戴學附設醫院 肝病防治中心：</a:t>
            </a: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r>
              <a:rPr lang="zh-TW" altLang="en-US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型肝炎檢驗判讀</a:t>
            </a: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http://web.csh.org.tw/web/224020/index.php/123-4/7-2/</a:t>
            </a: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2.</a:t>
            </a:r>
            <a:r>
              <a:rPr lang="zh-TW" altLang="en-US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聯安醫周刊：預防「肝苦」人生！五種常見肝病一次搞懂</a:t>
            </a: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https://www.lianan.com.tw/drliananepaper/Article/410-1</a:t>
            </a: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3. </a:t>
            </a:r>
            <a:r>
              <a:rPr lang="zh-TW" altLang="en-US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康健：肝真的會「爆」嗎？過勞爆肝有沒有道理？</a:t>
            </a: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https://www.commonhealth.com.tw/article/85845</a:t>
            </a:r>
            <a:r>
              <a:rPr lang="en-US" altLang="zh-TW" sz="1400" b="0" i="0" u="none" strike="noStrike" dirty="0">
                <a:effectLst/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4. 17</a:t>
            </a:r>
            <a:r>
              <a:rPr lang="zh-TW" altLang="en-US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項永續發展目標</a:t>
            </a:r>
            <a:endParaRPr lang="en-US" altLang="zh-TW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5"/>
              </a:rPr>
              <a:t>https://globalgoals.tw/3-good-health-and-well-being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5.</a:t>
            </a:r>
            <a:r>
              <a:rPr lang="zh-TW" altLang="en-US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常見</a:t>
            </a:r>
            <a:r>
              <a:rPr lang="en-US" altLang="zh-TW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b="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肝迷思大破解！</a:t>
            </a:r>
            <a:endParaRPr lang="en-US" altLang="zh-TW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6"/>
              </a:rPr>
              <a:t>https://today.line.me/tw/v2/article/x2XwjNw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zh-TW" altLang="en-US" b="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b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0268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65C0C8B6-C49F-432C-A826-6C2A8DAF16E0}"/>
              </a:ext>
            </a:extLst>
          </p:cNvPr>
          <p:cNvSpPr txBox="1"/>
          <p:nvPr/>
        </p:nvSpPr>
        <p:spPr>
          <a:xfrm>
            <a:off x="1722120" y="2221468"/>
            <a:ext cx="34442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altLang="zh-TW" sz="3200" b="0" i="0" u="none" strike="noStrike" dirty="0">
                <a:solidFill>
                  <a:srgbClr val="2D3959"/>
                </a:solidFill>
                <a:effectLst/>
                <a:latin typeface="Times New Roman" panose="02020603050405020304" pitchFamily="18" charset="0"/>
              </a:rPr>
              <a:t>Thank You</a:t>
            </a:r>
            <a:endParaRPr lang="en-US" altLang="zh-TW" sz="3200" b="0" dirty="0">
              <a:effectLst/>
            </a:endParaRPr>
          </a:p>
          <a:p>
            <a:br>
              <a:rPr lang="en-US" altLang="zh-TW" dirty="0"/>
            </a:br>
            <a:endParaRPr lang="zh-TW" altLang="en-US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8D56C327-9D01-44CF-88C0-48F8ABFDE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" y="3417721"/>
            <a:ext cx="2720340" cy="151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FF1E6707-8732-45B6-B8E6-F09C14144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328" y="233987"/>
            <a:ext cx="1259533" cy="125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558319"/>
      </p:ext>
    </p:extLst>
  </p:cSld>
  <p:clrMapOvr>
    <a:masterClrMapping/>
  </p:clrMapOvr>
</p:sld>
</file>

<file path=ppt/theme/theme1.xml><?xml version="1.0" encoding="utf-8"?>
<a:theme xmlns:a="http://schemas.openxmlformats.org/drawingml/2006/main" name="Six Figures Financial Consulting by Slidesgo">
  <a:themeElements>
    <a:clrScheme name="Simple Light">
      <a:dk1>
        <a:srgbClr val="1B2235"/>
      </a:dk1>
      <a:lt1>
        <a:srgbClr val="FFFFFF"/>
      </a:lt1>
      <a:dk2>
        <a:srgbClr val="EBF0FF"/>
      </a:dk2>
      <a:lt2>
        <a:srgbClr val="7393E6"/>
      </a:lt2>
      <a:accent1>
        <a:srgbClr val="536AA6"/>
      </a:accent1>
      <a:accent2>
        <a:srgbClr val="334166"/>
      </a:accent2>
      <a:accent3>
        <a:srgbClr val="2D3959"/>
      </a:accent3>
      <a:accent4>
        <a:srgbClr val="FFD863"/>
      </a:accent4>
      <a:accent5>
        <a:srgbClr val="FFCD36"/>
      </a:accent5>
      <a:accent6>
        <a:srgbClr val="D4A517"/>
      </a:accent6>
      <a:hlink>
        <a:srgbClr val="1B22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988</Words>
  <Application>Microsoft Office PowerPoint</Application>
  <PresentationFormat>自訂</PresentationFormat>
  <Paragraphs>167</Paragraphs>
  <Slides>25</Slides>
  <Notes>15</Notes>
  <HiddenSlides>1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Times New Roman</vt:lpstr>
      <vt:lpstr>Montserrat</vt:lpstr>
      <vt:lpstr>Anek Devanagari ExtraBold</vt:lpstr>
      <vt:lpstr>DFKai-SB</vt:lpstr>
      <vt:lpstr>Cambria Math</vt:lpstr>
      <vt:lpstr>DFKai-SB</vt:lpstr>
      <vt:lpstr>Anybody Black</vt:lpstr>
      <vt:lpstr>Arial</vt:lpstr>
      <vt:lpstr>Six Figures Financial Consulting by Slidesgo</vt:lpstr>
      <vt:lpstr>PowerPoint 簡報</vt:lpstr>
      <vt:lpstr>Content </vt:lpstr>
      <vt:lpstr>資料集介紹</vt:lpstr>
      <vt:lpstr>資料集介紹</vt:lpstr>
      <vt:lpstr>研究動機與目的</vt:lpstr>
      <vt:lpstr>使用的SDGs </vt:lpstr>
      <vt:lpstr>魚骨圖</vt:lpstr>
      <vt:lpstr>資料預處理與分析 </vt:lpstr>
      <vt:lpstr>資料預處理與分析</vt:lpstr>
      <vt:lpstr>資料預處理與分析</vt:lpstr>
      <vt:lpstr>資料預處理與分析</vt:lpstr>
      <vt:lpstr>資料預處理與分析</vt:lpstr>
      <vt:lpstr>資料預處理與分析</vt:lpstr>
      <vt:lpstr>資料預處理與分析</vt:lpstr>
      <vt:lpstr>模型評估與結果 </vt:lpstr>
      <vt:lpstr>模型評估與結果-Random Forest </vt:lpstr>
      <vt:lpstr>PowerPoint 簡報</vt:lpstr>
      <vt:lpstr>模型評估與結果-Random Forest </vt:lpstr>
      <vt:lpstr>模型評估與結果-Random Forest </vt:lpstr>
      <vt:lpstr>模型評估與結果-Random Forest </vt:lpstr>
      <vt:lpstr>知識發現</vt:lpstr>
      <vt:lpstr>知識發現</vt:lpstr>
      <vt:lpstr>結論</vt:lpstr>
      <vt:lpstr>文獻參考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利用身體指數 預測是否罹患肝病</dc:title>
  <cp:lastModifiedBy>Chiao chi Hsu</cp:lastModifiedBy>
  <cp:revision>65</cp:revision>
  <dcterms:modified xsi:type="dcterms:W3CDTF">2023-05-28T16:32:15Z</dcterms:modified>
</cp:coreProperties>
</file>